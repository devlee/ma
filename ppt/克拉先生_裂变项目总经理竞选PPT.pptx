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3032" cy="152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903823" y="1591056"/>
            <a:ext cx="384048" cy="384048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94457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Noto Sans CJK SC"/>
                <a:ea typeface="Noto Sans CJK SC"/>
              </a:rPr>
              <a:t>克拉先生  Mr. Karat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10128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0" i="0">
                <a:solidFill>
                  <a:srgbClr val="E8D5A3"/>
                </a:solidFill>
                <a:latin typeface="Noto Sans CJK SC"/>
                <a:ea typeface="Noto Sans CJK SC"/>
              </a:rPr>
              <a:t>美国培育钻婚戒 DTC 独立站品牌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4457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Noto Sans CJK SC"/>
                <a:ea typeface="Noto Sans CJK SC"/>
              </a:rPr>
              <a:t>低风险产品结构  ×  专业流量投放体系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FB0C4"/>
                </a:solidFill>
                <a:latin typeface="Noto Sans CJK SC"/>
                <a:ea typeface="Noto Sans CJK SC"/>
              </a:rPr>
              <a:t>裂变项目总经理竞选  ·  演讲人：____  ·  时长 12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对齐公司要求的六大要素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82296" cy="126187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56232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56232"/>
            <a:ext cx="4069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50" b="1" i="0">
                <a:solidFill>
                  <a:srgbClr val="112A46"/>
                </a:solidFill>
                <a:latin typeface="Noto Sans CJK SC"/>
                <a:ea typeface="Noto Sans CJK SC"/>
              </a:rPr>
              <a:t>项目介绍、产品及服务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美国培育钻婚戒赛道 × 个性化定制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82296" cy="126187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56232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856232"/>
            <a:ext cx="4069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50" b="1" i="0">
                <a:solidFill>
                  <a:srgbClr val="112A46"/>
                </a:solidFill>
                <a:latin typeface="Noto Sans CJK SC"/>
                <a:ea typeface="Noto Sans CJK SC"/>
              </a:rPr>
              <a:t>商业模式及市场策略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五位一体模式 · 流媒体机会点 · 打法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9544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09544"/>
            <a:ext cx="82296" cy="126187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374136"/>
            <a:ext cx="4069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50" b="1" i="0">
                <a:solidFill>
                  <a:srgbClr val="112A46"/>
                </a:solidFill>
                <a:latin typeface="Noto Sans CJK SC"/>
                <a:ea typeface="Noto Sans CJK SC"/>
              </a:rPr>
              <a:t>3 年独立核算财务预算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投入、收益与利润率测算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09544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209544"/>
            <a:ext cx="82296" cy="126187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374136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374136"/>
            <a:ext cx="4069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50" b="1" i="0">
                <a:solidFill>
                  <a:srgbClr val="112A46"/>
                </a:solidFill>
                <a:latin typeface="Noto Sans CJK SC"/>
                <a:ea typeface="Noto Sans CJK SC"/>
              </a:rPr>
              <a:t>投资总额度与出资结构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总投入 160 万 · 带头人及团队出资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27448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727448"/>
            <a:ext cx="82296" cy="126187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89204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892040"/>
            <a:ext cx="4069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50" b="1" i="0">
                <a:solidFill>
                  <a:srgbClr val="112A46"/>
                </a:solidFill>
                <a:latin typeface="Noto Sans CJK SC"/>
                <a:ea typeface="Noto Sans CJK SC"/>
              </a:rPr>
              <a:t>团队成员及职责介绍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投放 · 素材 · 供应链 · 定制服务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727448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727448"/>
            <a:ext cx="82296" cy="126187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489204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892040"/>
            <a:ext cx="4069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50" b="1" i="0">
                <a:solidFill>
                  <a:srgbClr val="112A46"/>
                </a:solidFill>
                <a:latin typeface="Noto Sans CJK SC"/>
                <a:ea typeface="Noto Sans CJK SC"/>
              </a:rPr>
              <a:t>为什么总经理是我（必答题）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被结果验证过的流媒体操盘手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01 · 项目介绍：产品及服务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在美国婚戒市场，用培育钻 + 定制服务切一块确定性增长的蛋糕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12A46"/>
                </a:solidFill>
                <a:latin typeface="Noto Sans CJK SC"/>
                <a:ea typeface="Noto Sans CJK SC"/>
              </a:rPr>
              <a:t>为什么是美国培育钻婚戒？</a:t>
            </a:r>
          </a:p>
        </p:txBody>
      </p:sp>
      <p:sp>
        <p:nvSpPr>
          <p:cNvPr id="10" name="Diamond 9"/>
          <p:cNvSpPr/>
          <p:nvPr/>
        </p:nvSpPr>
        <p:spPr>
          <a:xfrm>
            <a:off x="795528" y="2194560"/>
            <a:ext cx="146304" cy="146304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93976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222A33"/>
                </a:solidFill>
                <a:latin typeface="Noto Sans CJK SC"/>
                <a:ea typeface="Noto Sans CJK SC"/>
              </a:rPr>
              <a:t>渗透率高速提升：</a:t>
            </a:r>
            <a:r>
              <a:rPr sz="1350" b="0" i="0">
                <a:solidFill>
                  <a:srgbClr val="5A6470"/>
                </a:solidFill>
                <a:latin typeface="Noto Sans CJK SC"/>
                <a:ea typeface="Noto Sans CJK SC"/>
              </a:rPr>
              <a:t>培育钻已成为美国婚戒主流选择之一，年轻一代接受度持续走高</a:t>
            </a:r>
          </a:p>
        </p:txBody>
      </p:sp>
      <p:sp>
        <p:nvSpPr>
          <p:cNvPr id="12" name="Diamond 11"/>
          <p:cNvSpPr/>
          <p:nvPr/>
        </p:nvSpPr>
        <p:spPr>
          <a:xfrm>
            <a:off x="795528" y="3090672"/>
            <a:ext cx="146304" cy="146304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9008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222A33"/>
                </a:solidFill>
                <a:latin typeface="Noto Sans CJK SC"/>
                <a:ea typeface="Noto Sans CJK SC"/>
              </a:rPr>
              <a:t>极致性价比：</a:t>
            </a:r>
            <a:r>
              <a:rPr sz="1350" b="0" i="0">
                <a:solidFill>
                  <a:srgbClr val="5A6470"/>
                </a:solidFill>
                <a:latin typeface="Noto Sans CJK SC"/>
                <a:ea typeface="Noto Sans CJK SC"/>
              </a:rPr>
              <a:t>同级品质价格约为天然钻的 1/3~1/5，同预算克拉数翻倍</a:t>
            </a:r>
          </a:p>
        </p:txBody>
      </p:sp>
      <p:sp>
        <p:nvSpPr>
          <p:cNvPr id="14" name="Diamond 13"/>
          <p:cNvSpPr/>
          <p:nvPr/>
        </p:nvSpPr>
        <p:spPr>
          <a:xfrm>
            <a:off x="795528" y="3986784"/>
            <a:ext cx="146304" cy="146304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862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222A33"/>
                </a:solidFill>
                <a:latin typeface="Noto Sans CJK SC"/>
                <a:ea typeface="Noto Sans CJK SC"/>
              </a:rPr>
              <a:t>价值观契合：</a:t>
            </a:r>
            <a:r>
              <a:rPr sz="1350" b="0" i="0">
                <a:solidFill>
                  <a:srgbClr val="5A6470"/>
                </a:solidFill>
                <a:latin typeface="Noto Sans CJK SC"/>
                <a:ea typeface="Noto Sans CJK SC"/>
              </a:rPr>
              <a:t>环保、无开采争议，契合美国年轻婚恋人群的消费叙事</a:t>
            </a:r>
          </a:p>
        </p:txBody>
      </p:sp>
      <p:sp>
        <p:nvSpPr>
          <p:cNvPr id="16" name="Diamond 15"/>
          <p:cNvSpPr/>
          <p:nvPr/>
        </p:nvSpPr>
        <p:spPr>
          <a:xfrm>
            <a:off x="795528" y="4882896"/>
            <a:ext cx="146304" cy="146304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8231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 i="0">
                <a:solidFill>
                  <a:srgbClr val="222A33"/>
                </a:solidFill>
                <a:latin typeface="Noto Sans CJK SC"/>
                <a:ea typeface="Noto Sans CJK SC"/>
              </a:rPr>
              <a:t>高客单高毛利：</a:t>
            </a:r>
            <a:r>
              <a:rPr sz="1350" b="0" i="0">
                <a:solidFill>
                  <a:srgbClr val="5A6470"/>
                </a:solidFill>
                <a:latin typeface="Noto Sans CJK SC"/>
                <a:ea typeface="Noto Sans CJK SC"/>
              </a:rPr>
              <a:t>婚戒是强情感、强定制品类，服务与设计溢价空间大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C9A24B"/>
                </a:solidFill>
                <a:latin typeface="Noto Sans CJK SC"/>
                <a:ea typeface="Noto Sans CJK SC"/>
              </a:rPr>
              <a:t>我们卖什么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95728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E8D5A3"/>
                </a:solidFill>
                <a:latin typeface="Noto Sans CJK SC"/>
                <a:ea typeface="Noto Sans CJK SC"/>
              </a:rPr>
              <a:t>核心产品 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培育钻婚戒 / 订婚戒（IGI·GIA 证书裸钻 + 18K 金/铂金戒托）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91840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E8D5A3"/>
                </a:solidFill>
                <a:latin typeface="Noto Sans CJK SC"/>
                <a:ea typeface="Noto Sans CJK SC"/>
              </a:rPr>
              <a:t>核心服务 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1v1 定制顾问全程陪跑：选钻 → AI 出图 → 大师手作 → 保险直邮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87952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E8D5A3"/>
                </a:solidFill>
                <a:latin typeface="Noto Sans CJK SC"/>
                <a:ea typeface="Noto Sans CJK SC"/>
              </a:rPr>
              <a:t>交付模式 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一件一做、按单生产，支持刻字、改圈、终身保养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084064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E8D5A3"/>
                </a:solidFill>
                <a:latin typeface="Noto Sans CJK SC"/>
                <a:ea typeface="Noto Sans CJK SC"/>
              </a:rPr>
              <a:t>销售渠道 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品牌独立站 DTC 直达消费者，不依赖平台与门店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02 · 商业模式：五位一体 = 克拉先生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全链路自控：供应链 → 设计 → 制造 → 服务 → 销售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1883664" cy="1371600"/>
          </a:xfrm>
          <a:prstGeom prst="roundRect">
            <a:avLst>
              <a:gd name="adj" fmla="val 10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737360"/>
            <a:ext cx="1773936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印度一手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钻石源头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6" y="1901952"/>
            <a:ext cx="5303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627632"/>
            <a:ext cx="1883664" cy="1371600"/>
          </a:xfrm>
          <a:prstGeom prst="roundRect">
            <a:avLst>
              <a:gd name="adj" fmla="val 10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1737360"/>
            <a:ext cx="1773936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Tiffany 同源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金工大师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01952"/>
            <a:ext cx="5303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1627632"/>
            <a:ext cx="1883664" cy="1371600"/>
          </a:xfrm>
          <a:prstGeom prst="roundRect">
            <a:avLst>
              <a:gd name="adj" fmla="val 10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737360"/>
            <a:ext cx="1773936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珠宝 AI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设计模型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1901952"/>
            <a:ext cx="5303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627632"/>
            <a:ext cx="1883664" cy="1371600"/>
          </a:xfrm>
          <a:prstGeom prst="roundRect">
            <a:avLst>
              <a:gd name="adj" fmla="val 10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1737360"/>
            <a:ext cx="1773936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个性化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定制服务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901952"/>
            <a:ext cx="5303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C9A24B"/>
                </a:solidFill>
                <a:latin typeface="Noto Sans CJK SC"/>
                <a:ea typeface="Noto Sans CJK SC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30384" y="1627632"/>
            <a:ext cx="1883664" cy="1371600"/>
          </a:xfrm>
          <a:prstGeom prst="roundRect">
            <a:avLst>
              <a:gd name="adj" fmla="val 10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737360"/>
            <a:ext cx="1773936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独立站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销售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12724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C9A24B"/>
                </a:solidFill>
                <a:latin typeface="Noto Sans CJK SC"/>
                <a:ea typeface="Noto Sans CJK SC"/>
              </a:rPr>
              <a:t>＝  </a:t>
            </a:r>
            <a:r>
              <a:rPr sz="2100" b="1" i="0">
                <a:solidFill>
                  <a:srgbClr val="112A46"/>
                </a:solidFill>
                <a:latin typeface="Noto Sans CJK SC"/>
                <a:ea typeface="Noto Sans CJK SC"/>
              </a:rPr>
              <a:t>克拉先生 Mr. Karat：一件一做的美国培育钻婚戒定制品牌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977639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977639"/>
            <a:ext cx="2651760" cy="128016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88535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12A46"/>
                </a:solidFill>
                <a:latin typeface="Noto Sans CJK SC"/>
                <a:ea typeface="Noto Sans CJK SC"/>
              </a:rPr>
              <a:t>零库存压力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818887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一件一做、按单生产，无备货资金占用，天然低风险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38144" y="3977639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38144" y="3977639"/>
            <a:ext cx="2651760" cy="1280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4288535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12A46"/>
                </a:solidFill>
                <a:latin typeface="Noto Sans CJK SC"/>
                <a:ea typeface="Noto Sans CJK SC"/>
              </a:rPr>
              <a:t>AI 设计赋能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2" y="4818887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AI 模型秒级出图，个性化设计效率和素材产能同步放大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977639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977639"/>
            <a:ext cx="2651760" cy="128016"/>
          </a:xfrm>
          <a:prstGeom prst="rect">
            <a:avLst/>
          </a:prstGeom>
          <a:solidFill>
            <a:srgbClr val="1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288535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12A46"/>
                </a:solidFill>
                <a:latin typeface="Noto Sans CJK SC"/>
                <a:ea typeface="Noto Sans CJK SC"/>
              </a:rPr>
              <a:t>大师级工艺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818887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Tiffany 同源体系金工大师手作，品质与品牌故事双背书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3977639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3977639"/>
            <a:ext cx="2651760" cy="128016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1744" y="4288535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12A46"/>
                </a:solidFill>
                <a:latin typeface="Noto Sans CJK SC"/>
                <a:ea typeface="Noto Sans CJK SC"/>
              </a:rPr>
              <a:t>定制服务承接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1744" y="4818887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6470"/>
                </a:solidFill>
                <a:latin typeface="Noto Sans CJK SC"/>
                <a:ea typeface="Noto Sans CJK SC"/>
              </a:rPr>
              <a:t>1v1 顾问承接高客单决策，转化与复购的信任基石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02 · 市场分析：竞品的流量盲区，就是我们的机会点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头部品牌重搜索与门店，社媒信息流投放渗透率极低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2286000" cy="676656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627632"/>
            <a:ext cx="206654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流量打法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1627632"/>
            <a:ext cx="2139696" cy="676656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1627632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BrilliantEarth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1627632"/>
            <a:ext cx="2139696" cy="676656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1627632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Tiffany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627632"/>
            <a:ext cx="2139696" cy="676656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1627632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Cartier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2016" y="1627632"/>
            <a:ext cx="2322576" cy="676656"/>
          </a:xfrm>
          <a:prstGeom prst="rect">
            <a:avLst/>
          </a:prstGeom>
          <a:solidFill>
            <a:srgbClr val="C9A24B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1627632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CJK SC"/>
                <a:ea typeface="Noto Sans CJK SC"/>
              </a:rPr>
              <a:t>克拉先生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04288"/>
            <a:ext cx="2286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304288"/>
            <a:ext cx="206654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2A33"/>
                </a:solidFill>
                <a:latin typeface="Noto Sans CJK SC"/>
                <a:ea typeface="Noto Sans CJK SC"/>
              </a:rPr>
              <a:t>线下品牌门店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2928" y="2304288"/>
            <a:ext cx="213969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2304288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● 重投入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92624" y="2304288"/>
            <a:ext cx="213969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2304288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●● 极重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2304288"/>
            <a:ext cx="213969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2048" y="2304288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●● 极重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2016" y="2304288"/>
            <a:ext cx="2322576" cy="676656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1744" y="2304288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2A46"/>
                </a:solidFill>
                <a:latin typeface="Noto Sans CJK SC"/>
                <a:ea typeface="Noto Sans CJK SC"/>
              </a:rPr>
              <a:t>— 无（轻资产）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80944"/>
            <a:ext cx="2286000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2980944"/>
            <a:ext cx="206654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2A33"/>
                </a:solidFill>
                <a:latin typeface="Noto Sans CJK SC"/>
                <a:ea typeface="Noto Sans CJK SC"/>
              </a:rPr>
              <a:t>Google 搜索 / SEO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2928" y="2980944"/>
            <a:ext cx="2139696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2980944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●● 主阵地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92624" y="2980944"/>
            <a:ext cx="2139696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2352" y="2980944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● 品牌词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2980944"/>
            <a:ext cx="2139696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2980944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● 品牌词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72016" y="2980944"/>
            <a:ext cx="2322576" cy="676656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1744" y="2980944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2A46"/>
                </a:solidFill>
                <a:latin typeface="Noto Sans CJK SC"/>
                <a:ea typeface="Noto Sans CJK SC"/>
              </a:rPr>
              <a:t>○ 辅助承接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657600"/>
            <a:ext cx="2286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3657600"/>
            <a:ext cx="206654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2A33"/>
                </a:solidFill>
                <a:latin typeface="Noto Sans CJK SC"/>
                <a:ea typeface="Noto Sans CJK SC"/>
              </a:rPr>
              <a:t>TT / FB / INS 信息流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52928" y="3657600"/>
            <a:ext cx="213969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62656" y="3657600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○ 渗透极低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4" y="3657600"/>
            <a:ext cx="213969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2352" y="3657600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○ 几乎缺席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657600"/>
            <a:ext cx="213969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2048" y="3657600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○ 几乎缺席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72016" y="3657600"/>
            <a:ext cx="2322576" cy="676656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81744" y="3657600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2A46"/>
                </a:solidFill>
                <a:latin typeface="Noto Sans CJK SC"/>
                <a:ea typeface="Noto Sans CJK SC"/>
              </a:rPr>
              <a:t>★ 主攻阵地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334256"/>
            <a:ext cx="2286000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" y="4334256"/>
            <a:ext cx="206654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22A33"/>
                </a:solidFill>
                <a:latin typeface="Noto Sans CJK SC"/>
                <a:ea typeface="Noto Sans CJK SC"/>
              </a:rPr>
              <a:t>KOL / 素材生态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52928" y="4334256"/>
            <a:ext cx="2139696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62656" y="4334256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○ 零散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92624" y="4334256"/>
            <a:ext cx="2139696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02352" y="4334256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○ 传统广告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4334256"/>
            <a:ext cx="2139696" cy="676656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42048" y="4334256"/>
            <a:ext cx="1920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Noto Sans CJK SC"/>
                <a:ea typeface="Noto Sans CJK SC"/>
              </a:rPr>
              <a:t>○ 传统广告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72016" y="4334256"/>
            <a:ext cx="2322576" cy="676656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81744" y="4334256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2A46"/>
                </a:solidFill>
                <a:latin typeface="Noto Sans CJK SC"/>
                <a:ea typeface="Noto Sans CJK SC"/>
              </a:rPr>
              <a:t>★ 母公司平台赋能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212080"/>
            <a:ext cx="11064240" cy="868680"/>
          </a:xfrm>
          <a:prstGeom prst="roundRect">
            <a:avLst>
              <a:gd name="adj" fmla="val 15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21208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C9A24B"/>
                </a:solidFill>
                <a:latin typeface="Noto Sans CJK SC"/>
                <a:ea typeface="Noto Sans CJK SC"/>
              </a:rPr>
              <a:t>机会点：</a:t>
            </a: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婚戒品类天然具备大克拉对比、定制过程等强视觉素材，正是社媒信息流最吃的内容——竞品未建立体系，我们先建。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02 · 市场策略：素材驱动的社媒打法 + 高客单信任体系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把流量优势转化为高客单订单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4937760" cy="768096"/>
          </a:xfrm>
          <a:prstGeom prst="roundRect">
            <a:avLst>
              <a:gd name="adj" fmla="val 30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4937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</a:rPr>
              <a:t>种草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600200"/>
            <a:ext cx="320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32888"/>
            <a:ext cx="4206240" cy="768096"/>
          </a:xfrm>
          <a:prstGeom prst="roundRect">
            <a:avLst>
              <a:gd name="adj" fmla="val 30000"/>
            </a:avLst>
          </a:prstGeom>
          <a:solidFill>
            <a:srgbClr val="1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32888"/>
            <a:ext cx="4206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</a:rPr>
              <a:t>留资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532888"/>
            <a:ext cx="320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465576"/>
            <a:ext cx="3474720" cy="768096"/>
          </a:xfrm>
          <a:prstGeom prst="roundRect">
            <a:avLst>
              <a:gd name="adj" fmla="val 30000"/>
            </a:avLst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465576"/>
            <a:ext cx="34747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</a:rPr>
              <a:t>转化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465576"/>
            <a:ext cx="320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4398264"/>
            <a:ext cx="2743200" cy="768096"/>
          </a:xfrm>
          <a:prstGeom prst="roundRect">
            <a:avLst>
              <a:gd name="adj" fmla="val 30000"/>
            </a:avLst>
          </a:prstGeom>
          <a:solidFill>
            <a:srgbClr val="8A6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98264"/>
            <a:ext cx="274320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</a:rPr>
              <a:t>裂变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398264"/>
            <a:ext cx="320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801368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种草：</a:t>
            </a: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TT/FB/INS 信息流 + KOL 真实开箱、求婚场景素材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34056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留资：</a:t>
            </a: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独立站落地页 · AI 免费出图钩子 · 邮件/WhatsApp 私域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66674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转化：</a:t>
            </a: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1v1 定制顾问：选钻教学 → 3D 效果图 → 分期支付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599432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裂变：</a:t>
            </a: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婚礼晒单返现 · 周年钻饰复购 · 好友推荐计划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32120"/>
            <a:ext cx="1083564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532120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C9A24B"/>
                </a:solidFill>
                <a:latin typeface="Noto Sans CJK SC"/>
                <a:ea typeface="Noto Sans CJK SC"/>
              </a:rPr>
              <a:t>高客单信任体系：</a:t>
            </a: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IGI/GIA 权威证书 · 30 天无忧退换 · 保险物流直邮 · 真实客户评价库 · 终身保养承诺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03 · 3 年独立核算：投资与收益财务预算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总投入 160 万（3 年储备） · 目标利润率 15%~20%（下表为测算示例，口径可复核）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3017520" cy="566928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</a:rPr>
              <a:t>科目（万元人民币）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4448" y="1691640"/>
            <a:ext cx="2651760" cy="566928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6916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</a:rPr>
              <a:t>第 1 年 · 验证期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691640"/>
            <a:ext cx="2651760" cy="566928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6916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</a:rPr>
              <a:t>第 2 年 · 放量期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1691640"/>
            <a:ext cx="2724912" cy="566928"/>
          </a:xfrm>
          <a:prstGeom prst="rect">
            <a:avLst/>
          </a:prstGeom>
          <a:solidFill>
            <a:srgbClr val="112A46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691640"/>
            <a:ext cx="2450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</a:rPr>
              <a:t>第 3 年 · 规模期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58568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25856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GMV（销售额）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225856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2258568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225856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258568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1,500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8" y="2258568"/>
            <a:ext cx="27249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2258568"/>
            <a:ext cx="2450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3,600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25496"/>
            <a:ext cx="3017520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282549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广告及营销投放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448" y="2825496"/>
            <a:ext cx="2651760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2825496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150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2825496"/>
            <a:ext cx="2651760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825496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380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2825496"/>
            <a:ext cx="2724912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5128" y="2825496"/>
            <a:ext cx="2450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820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392424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39242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货品及履约成本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84448" y="339242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1608" y="3392424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290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339242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392424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830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87968" y="3392424"/>
            <a:ext cx="27249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3392424"/>
            <a:ext cx="2450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1,950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959352"/>
            <a:ext cx="3017520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395935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团队及运营费用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959352"/>
            <a:ext cx="2651760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21608" y="3959352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3959352"/>
            <a:ext cx="2651760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3959352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150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87968" y="3959352"/>
            <a:ext cx="2724912" cy="566928"/>
          </a:xfrm>
          <a:prstGeom prst="rect">
            <a:avLst/>
          </a:prstGeom>
          <a:solidFill>
            <a:srgbClr val="F7F5F0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5128" y="3959352"/>
            <a:ext cx="2450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3"/>
                </a:solidFill>
                <a:latin typeface="Noto Sans CJK SC"/>
                <a:ea typeface="Noto Sans CJK SC"/>
              </a:rPr>
              <a:t>250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526280"/>
            <a:ext cx="3017520" cy="566928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" y="45262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净利润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4526280"/>
            <a:ext cx="2651760" cy="566928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21608" y="45262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▲ -25（战略亏损）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4526280"/>
            <a:ext cx="2651760" cy="566928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45262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140（利润率 9%）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87968" y="4526280"/>
            <a:ext cx="2724912" cy="566928"/>
          </a:xfrm>
          <a:prstGeom prst="rect">
            <a:avLst/>
          </a:prstGeom>
          <a:solidFill>
            <a:srgbClr val="E8D5A3"/>
          </a:solidFill>
          <a:ln w="9525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5128" y="4526280"/>
            <a:ext cx="2450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580（利润率 16%）</a:t>
            </a:r>
          </a:p>
        </p:txBody>
      </p:sp>
      <p:sp>
        <p:nvSpPr>
          <p:cNvPr id="57" name="Diamond 56"/>
          <p:cNvSpPr/>
          <p:nvPr/>
        </p:nvSpPr>
        <p:spPr>
          <a:xfrm>
            <a:off x="685800" y="5321808"/>
            <a:ext cx="128016" cy="128016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5239512"/>
            <a:ext cx="10698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零库存模型：</a:t>
            </a: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一件一做，货品成本随订单发生，160 万主要投向流量与团队，资金效率高</a:t>
            </a:r>
          </a:p>
        </p:txBody>
      </p:sp>
      <p:sp>
        <p:nvSpPr>
          <p:cNvPr id="59" name="Diamond 58"/>
          <p:cNvSpPr/>
          <p:nvPr/>
        </p:nvSpPr>
        <p:spPr>
          <a:xfrm>
            <a:off x="685800" y="5705856"/>
            <a:ext cx="128016" cy="128016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5623560"/>
            <a:ext cx="10698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利润率锚点：</a:t>
            </a: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第 3 年稳态利润率 15%~20%，利润来自设计与定制服务溢价，而非裸钻差价</a:t>
            </a:r>
          </a:p>
        </p:txBody>
      </p:sp>
      <p:sp>
        <p:nvSpPr>
          <p:cNvPr id="61" name="Diamond 60"/>
          <p:cNvSpPr/>
          <p:nvPr/>
        </p:nvSpPr>
        <p:spPr>
          <a:xfrm>
            <a:off x="685800" y="6089904"/>
            <a:ext cx="128016" cy="128016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" y="6007608"/>
            <a:ext cx="10698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12A46"/>
                </a:solidFill>
                <a:latin typeface="Noto Sans CJK SC"/>
                <a:ea typeface="Noto Sans CJK SC"/>
              </a:rPr>
              <a:t>长期愿景：</a:t>
            </a: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跑通单站模型后复制放大，3~5 年冲击年营收 5,000 万美金量级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04 · 项目投资总额度 · 带头人及团队出资额度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跟投绑定：我们自己先押上真金白银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E8D5A3"/>
                </a:solidFill>
                <a:latin typeface="Noto Sans CJK SC"/>
                <a:ea typeface="Noto Sans CJK SC"/>
              </a:rPr>
              <a:t>项目投资总额度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600" b="1" i="0">
                <a:solidFill>
                  <a:srgbClr val="FFFFFF"/>
                </a:solidFill>
                <a:latin typeface="Noto Sans CJK SC"/>
                <a:ea typeface="Noto Sans CJK SC"/>
              </a:rPr>
              <a:t>160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50" b="0" i="0">
                <a:solidFill>
                  <a:srgbClr val="E8D5A3"/>
                </a:solidFill>
                <a:latin typeface="Noto Sans CJK SC"/>
                <a:ea typeface="Noto Sans CJK SC"/>
              </a:rPr>
              <a:t>3 年运营储备 · 独立核算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4434840"/>
            <a:ext cx="3200400" cy="127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带头人出资：____ 万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核心团队合计：____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6916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12A46"/>
                </a:solidFill>
                <a:latin typeface="Noto Sans CJK SC"/>
                <a:ea typeface="Noto Sans CJK SC"/>
              </a:rPr>
              <a:t>资金用途规划（示例占比）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2860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流量投放与素材制作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633472"/>
            <a:ext cx="3749039" cy="237744"/>
          </a:xfrm>
          <a:prstGeom prst="rect">
            <a:avLst/>
          </a:prstGeom>
          <a:solidFill>
            <a:srgbClr val="E7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633472"/>
            <a:ext cx="1874519" cy="23774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25237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04495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团队薪酬与运营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392424"/>
            <a:ext cx="3749039" cy="237744"/>
          </a:xfrm>
          <a:prstGeom prst="rect">
            <a:avLst/>
          </a:prstGeom>
          <a:solidFill>
            <a:srgbClr val="E7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3392424"/>
            <a:ext cx="937259" cy="237744"/>
          </a:xfrm>
          <a:prstGeom prst="rect">
            <a:avLst/>
          </a:prstGeom>
          <a:solidFill>
            <a:srgbClr val="1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32826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80390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独立站建设与工具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4151376"/>
            <a:ext cx="3749039" cy="237744"/>
          </a:xfrm>
          <a:prstGeom prst="rect">
            <a:avLst/>
          </a:prstGeom>
          <a:solidFill>
            <a:srgbClr val="E7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4151376"/>
            <a:ext cx="374903" cy="237744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599" y="404164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5628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样品打版与认证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4910328"/>
            <a:ext cx="3749039" cy="237744"/>
          </a:xfrm>
          <a:prstGeom prst="rect">
            <a:avLst/>
          </a:prstGeom>
          <a:solidFill>
            <a:srgbClr val="E7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4910328"/>
            <a:ext cx="299923" cy="23774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599" y="48006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3218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22A33"/>
                </a:solidFill>
                <a:latin typeface="Noto Sans CJK SC"/>
                <a:ea typeface="Noto Sans CJK SC"/>
              </a:rPr>
              <a:t>风险备用金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5669280"/>
            <a:ext cx="3749039" cy="237744"/>
          </a:xfrm>
          <a:prstGeom prst="rect">
            <a:avLst/>
          </a:prstGeom>
          <a:solidFill>
            <a:srgbClr val="E7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5669280"/>
            <a:ext cx="262432" cy="237744"/>
          </a:xfrm>
          <a:prstGeom prst="rect">
            <a:avLst/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599" y="555955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2A46"/>
                </a:solidFill>
                <a:latin typeface="Noto Sans CJK SC"/>
                <a:ea typeface="Noto Sans CJK SC"/>
              </a:rPr>
              <a:t>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1722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470"/>
                </a:solidFill>
                <a:latin typeface="Noto Sans CJK SC"/>
                <a:ea typeface="Noto Sans CJK SC"/>
              </a:rPr>
              <a:t>注：出资额度以公司裂变机制要求为准，上台前填入实际数字。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05 · 团队成员及职责介绍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小而精的闭环作战单元：每个关键环节都有被验证过的人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53492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82296" cy="1874519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385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12A46"/>
                </a:solidFill>
                <a:latin typeface="Noto Sans CJK SC"/>
                <a:ea typeface="Noto Sans CJK SC"/>
              </a:rPr>
              <a:t>总经理 / 流量操盘</a:t>
            </a:r>
            <a:r>
              <a:rPr sz="1400" b="1" i="0">
                <a:solidFill>
                  <a:srgbClr val="C9A24B"/>
                </a:solidFill>
                <a:latin typeface="Noto Sans CJK SC"/>
                <a:ea typeface="Noto Sans CJK SC"/>
              </a:rPr>
              <a:t>   ____（本人）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战略与经营 · 投放体系搭建 · 广告账户操盘 · ROI 负责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53492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82296" cy="1874519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385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12A46"/>
                </a:solidFill>
                <a:latin typeface="Noto Sans CJK SC"/>
                <a:ea typeface="Noto Sans CJK SC"/>
              </a:rPr>
              <a:t>素材创作负责人</a:t>
            </a:r>
            <a:r>
              <a:rPr sz="1400" b="1" i="0">
                <a:solidFill>
                  <a:srgbClr val="C9A24B"/>
                </a:solidFill>
                <a:latin typeface="Noto Sans CJK SC"/>
                <a:ea typeface="Noto Sans CJK SC"/>
              </a:rPr>
              <a:t>   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拍摄与剪辑生态 · 素材测试迭代 · KOL 内容协同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53492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82296" cy="1874519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4164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12A46"/>
                </a:solidFill>
                <a:latin typeface="Noto Sans CJK SC"/>
                <a:ea typeface="Noto Sans CJK SC"/>
              </a:rPr>
              <a:t>设计与供应链负责人</a:t>
            </a:r>
            <a:r>
              <a:rPr sz="1400" b="1" i="0">
                <a:solidFill>
                  <a:srgbClr val="C9A24B"/>
                </a:solidFill>
                <a:latin typeface="Noto Sans CJK SC"/>
                <a:ea typeface="Noto Sans CJK SC"/>
              </a:rPr>
              <a:t>   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1772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AI 设计模型 · 印度源头选钻 · 金工大师排单与品控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40480"/>
            <a:ext cx="53492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40480"/>
            <a:ext cx="82296" cy="1874519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4164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12A46"/>
                </a:solidFill>
                <a:latin typeface="Noto Sans CJK SC"/>
                <a:ea typeface="Noto Sans CJK SC"/>
              </a:rPr>
              <a:t>定制顾问 / 客服负责人</a:t>
            </a:r>
            <a:r>
              <a:rPr sz="1400" b="1" i="0">
                <a:solidFill>
                  <a:srgbClr val="C9A24B"/>
                </a:solidFill>
                <a:latin typeface="Noto Sans CJK SC"/>
                <a:ea typeface="Noto Sans CJK SC"/>
              </a:rPr>
              <a:t>   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617720"/>
            <a:ext cx="47548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5A6470"/>
                </a:solidFill>
                <a:latin typeface="Noto Sans CJK SC"/>
                <a:ea typeface="Noto Sans CJK SC"/>
              </a:rPr>
              <a:t>1v1 定制服务 · 询单转化 · 售后与复购运营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6470"/>
                </a:solidFill>
                <a:latin typeface="Noto Sans CJK SC"/>
                <a:ea typeface="Noto Sans CJK SC"/>
              </a:rPr>
              <a:t>注：成员姓名与出资额度上台前补充；母公司 KOL 平台与中后台（财务/法务/IT）共享支持。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Noto Sans CJK SC"/>
                <a:ea typeface="Noto Sans CJK SC"/>
              </a:rPr>
              <a:t>06 · 必答题：为什么总经理是我？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50" b="1" i="0">
                <a:solidFill>
                  <a:srgbClr val="C9A24B"/>
                </a:solidFill>
                <a:latin typeface="Noto Sans CJK SC"/>
                <a:ea typeface="Noto Sans CJK SC"/>
              </a:rPr>
              <a:t>这个项目的胜负手是流媒体流量，而我，是公司里被结果验证过的流媒体操盘手。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24328"/>
            <a:ext cx="8366760" cy="279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005840" y="2496312"/>
            <a:ext cx="274320" cy="27432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91440" y="29260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客服业务员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91440" y="338328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月薪 3,500 起步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吃透用户与询单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21305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A24B"/>
                </a:solidFill>
                <a:latin typeface="Noto Sans CJK SC"/>
                <a:ea typeface="Noto Sans CJK SC"/>
              </a:rPr>
              <a:t>2020</a:t>
            </a:r>
          </a:p>
        </p:txBody>
      </p:sp>
      <p:sp>
        <p:nvSpPr>
          <p:cNvPr id="11" name="Diamond 10"/>
          <p:cNvSpPr/>
          <p:nvPr/>
        </p:nvSpPr>
        <p:spPr>
          <a:xfrm>
            <a:off x="3794760" y="2496312"/>
            <a:ext cx="274320" cy="27432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9260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营销部投手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38328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转型广告投放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从 0 建立盘感</a:t>
            </a:r>
          </a:p>
        </p:txBody>
      </p:sp>
      <p:sp>
        <p:nvSpPr>
          <p:cNvPr id="14" name="Diamond 13"/>
          <p:cNvSpPr/>
          <p:nvPr/>
        </p:nvSpPr>
        <p:spPr>
          <a:xfrm>
            <a:off x="6583680" y="2496312"/>
            <a:ext cx="274320" cy="27432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站点营销负责人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38328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统筹素材+投放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搭建创作生态团队</a:t>
            </a:r>
          </a:p>
        </p:txBody>
      </p:sp>
      <p:sp>
        <p:nvSpPr>
          <p:cNvPr id="17" name="Diamond 16"/>
          <p:cNvSpPr/>
          <p:nvPr/>
        </p:nvSpPr>
        <p:spPr>
          <a:xfrm>
            <a:off x="9372600" y="2496312"/>
            <a:ext cx="274320" cy="27432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9260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Noto Sans CJK SC"/>
                <a:ea typeface="Noto Sans CJK SC"/>
              </a:rPr>
              <a:t>项目负责人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8328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打破站点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B9C5D4"/>
                </a:solidFill>
                <a:latin typeface="Noto Sans CJK SC"/>
                <a:ea typeface="Noto Sans CJK SC"/>
              </a:rPr>
              <a:t>GMV 纪录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305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9A24B"/>
                </a:solidFill>
                <a:latin typeface="Noto Sans CJK SC"/>
                <a:ea typeface="Noto Sans CJK SC"/>
              </a:rPr>
              <a:t>至今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34840"/>
            <a:ext cx="3291840" cy="1600200"/>
          </a:xfrm>
          <a:prstGeom prst="roundRect">
            <a:avLst>
              <a:gd name="adj" fmla="val 10000"/>
            </a:avLst>
          </a:prstGeom>
          <a:solidFill>
            <a:srgbClr val="1E3D5C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36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100" b="1" i="0">
                <a:solidFill>
                  <a:srgbClr val="C9A24B"/>
                </a:solidFill>
                <a:latin typeface="Noto Sans CJK SC"/>
                <a:ea typeface="Noto Sans CJK SC"/>
              </a:rPr>
              <a:t>$1,000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395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累计广告投放花费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实战锤炼的投放体系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434840"/>
            <a:ext cx="3291840" cy="1600200"/>
          </a:xfrm>
          <a:prstGeom prst="roundRect">
            <a:avLst>
              <a:gd name="adj" fmla="val 10000"/>
            </a:avLst>
          </a:prstGeom>
          <a:solidFill>
            <a:srgbClr val="1E3D5C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636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100" b="1" i="0">
                <a:solidFill>
                  <a:srgbClr val="C9A24B"/>
                </a:solidFill>
                <a:latin typeface="Noto Sans CJK SC"/>
                <a:ea typeface="Noto Sans CJK SC"/>
              </a:rPr>
              <a:t>素材生态团队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2395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拍摄 → 剪辑 → 投放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双通道自建打通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434840"/>
            <a:ext cx="3291840" cy="1600200"/>
          </a:xfrm>
          <a:prstGeom prst="roundRect">
            <a:avLst>
              <a:gd name="adj" fmla="val 10000"/>
            </a:avLst>
          </a:prstGeom>
          <a:solidFill>
            <a:srgbClr val="1E3D5C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6360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100" b="1" i="0">
                <a:solidFill>
                  <a:srgbClr val="C9A24B"/>
                </a:solidFill>
                <a:latin typeface="Noto Sans CJK SC"/>
                <a:ea typeface="Noto Sans CJK SC"/>
              </a:rPr>
              <a:t>破站点 GMV 纪录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2395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操盘项目创下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Noto Sans CJK SC"/>
                <a:ea typeface="Noto Sans CJK SC"/>
              </a:rPr>
              <a:t>站点历史最高纪录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2636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E8D5A3"/>
                </a:solidFill>
                <a:latin typeface="Noto Sans CJK SC"/>
                <a:ea typeface="Noto Sans CJK SC"/>
              </a:rPr>
              <a:t>＋ 母公司 KOL 平台完善支持，为新品牌冷启动持续赋能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  <a:ea typeface="Noto Sans CJK SC"/>
              </a:rPr>
              <a:t>总结：确定性的模型，配上被验证过的人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011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9A24B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AAA496"/>
                </a:solidFill>
                <a:latin typeface="Noto Sans CJK SC"/>
                <a:ea typeface="Noto Sans CJK SC"/>
              </a:rPr>
              <a:t>克拉先生 Mr. Karat · 裂变项目竞选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5349240" cy="128016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12A46"/>
                </a:solidFill>
                <a:latin typeface="Noto Sans CJK SC"/>
                <a:ea typeface="Noto Sans CJK SC"/>
              </a:rPr>
              <a:t>低风险产品结构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一件一做，零库存资金占用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160 万投入覆盖 3 年独立核算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源头供应链 + 大师工艺锁定成本与品质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利润锚定设计与服务溢价，15%~20%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5349240" cy="12801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7451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12A46"/>
                </a:solidFill>
                <a:latin typeface="Noto Sans CJK SC"/>
                <a:ea typeface="Noto Sans CJK SC"/>
              </a:rPr>
              <a:t>专业流量投放体系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6888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竞品社媒信息流空窗，先发卡位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$1,000 万投放经验 + 素材生态团队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母公司 KOL 平台冷启动赋能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5A6470"/>
                </a:solidFill>
                <a:latin typeface="Noto Sans CJK SC"/>
                <a:ea typeface="Noto Sans CJK SC"/>
              </a:rPr>
              <a:t>· 破站点 GMV 纪录的操盘方法论复用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83480"/>
            <a:ext cx="10927080" cy="1143000"/>
          </a:xfrm>
          <a:prstGeom prst="roundRect">
            <a:avLst>
              <a:gd name="adj" fmla="val 12000"/>
            </a:avLst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80"/>
            <a:ext cx="103327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C9A24B"/>
                </a:solidFill>
                <a:latin typeface="Noto Sans CJK SC"/>
                <a:ea typeface="Noto Sans CJK SC"/>
              </a:rPr>
              <a:t>目标：</a:t>
            </a:r>
            <a:r>
              <a:rPr sz="1700" b="1" i="0">
                <a:solidFill>
                  <a:srgbClr val="FFFFFF"/>
                </a:solidFill>
                <a:latin typeface="Noto Sans CJK SC"/>
                <a:ea typeface="Noto Sans CJK SC"/>
              </a:rPr>
              <a:t>打造年收益 5,000 万美金量级的美国培育钻婚戒独立站。下有零库存保底，上有流量红利想象力。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912967" y="1965960"/>
            <a:ext cx="365760" cy="36576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Noto Sans CJK SC"/>
                <a:ea typeface="Noto Sans CJK SC"/>
              </a:rPr>
              <a:t>感谢聆听 · 请投出您的一票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E8D5A3"/>
                </a:solidFill>
                <a:latin typeface="Noto Sans CJK SC"/>
                <a:ea typeface="Noto Sans CJK SC"/>
              </a:rPr>
              <a:t>克拉先生 Mr. Karat —— 让每一枚婚戒，都值得被认真定制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Noto Sans CJK SC"/>
                <a:ea typeface="Noto Sans CJK S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