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2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822960"/>
            <a:ext cx="10543032" cy="1524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iamond 4"/>
          <p:cNvSpPr/>
          <p:nvPr/>
        </p:nvSpPr>
        <p:spPr>
          <a:xfrm>
            <a:off x="5903823" y="1591056"/>
            <a:ext cx="384048" cy="384048"/>
          </a:xfrm>
          <a:prstGeom prst="diamond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2148840"/>
            <a:ext cx="9445752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5400" b="1" i="0">
                <a:solidFill>
                  <a:srgbClr val="FFFFFF"/>
                </a:solidFill>
                <a:latin typeface="Noto Sans CJK SC"/>
                <a:ea typeface="Noto Sans CJK SC"/>
              </a:rPr>
              <a:t>克拉先生  Mr. Karat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3310128"/>
            <a:ext cx="944575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400" b="0" i="0">
                <a:solidFill>
                  <a:srgbClr val="E8D5A3"/>
                </a:solidFill>
                <a:latin typeface="Noto Sans CJK SC"/>
                <a:ea typeface="Noto Sans CJK SC"/>
              </a:rPr>
              <a:t>美国培育钻婚戒 DTC 独立站品牌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4160520"/>
            <a:ext cx="944575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800" b="0" i="0">
                <a:solidFill>
                  <a:srgbClr val="FFFFFF"/>
                </a:solidFill>
                <a:latin typeface="Noto Sans CJK SC"/>
                <a:ea typeface="Noto Sans CJK SC"/>
              </a:rPr>
              <a:t>低风险产品结构  ×  专业流量投放体系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5074920"/>
            <a:ext cx="944575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500" b="0" i="0">
                <a:solidFill>
                  <a:srgbClr val="9FB0C4"/>
                </a:solidFill>
                <a:latin typeface="Noto Sans CJK SC"/>
                <a:ea typeface="Noto Sans CJK SC"/>
              </a:rPr>
              <a:t>裂变项目总经理竞选  ·  演讲人：____  ·  时长 12 分钟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2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900" b="1" i="0">
                <a:solidFill>
                  <a:srgbClr val="FFFFFF"/>
                </a:solidFill>
                <a:latin typeface="Noto Sans CJK SC"/>
                <a:ea typeface="Noto Sans CJK SC"/>
              </a:rPr>
              <a:t>开场：这两颗钻石，哪颗 30 万，哪颗 6 万？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097280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50" b="0" i="0">
                <a:solidFill>
                  <a:srgbClr val="E8D5A3"/>
                </a:solidFill>
                <a:latin typeface="Noto Sans CJK SC"/>
                <a:ea typeface="Noto Sans CJK SC"/>
              </a:rPr>
              <a:t>培育钻不是仿钻——它是实验室里“长”出来的真钻石，连 IGI / GIA 都为它出具证书</a:t>
            </a:r>
          </a:p>
        </p:txBody>
      </p:sp>
      <p:sp>
        <p:nvSpPr>
          <p:cNvPr id="6" name="Rectangle 5"/>
          <p:cNvSpPr/>
          <p:nvPr/>
        </p:nvSpPr>
        <p:spPr>
          <a:xfrm>
            <a:off x="830580" y="1653540"/>
            <a:ext cx="3733800" cy="3733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ings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691640"/>
            <a:ext cx="3657600" cy="36576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1371600" y="4846320"/>
            <a:ext cx="502920" cy="365760"/>
          </a:xfrm>
          <a:prstGeom prst="roundRect">
            <a:avLst>
              <a:gd name="adj" fmla="val 50000"/>
            </a:avLst>
          </a:prstGeom>
          <a:solidFill>
            <a:srgbClr val="112A46"/>
          </a:solidFill>
          <a:ln w="127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4846320"/>
            <a:ext cx="5029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C9A24B"/>
                </a:solidFill>
                <a:latin typeface="Noto Sans CJK SC"/>
                <a:ea typeface="Noto Sans CJK SC"/>
              </a:rPr>
              <a:t>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20440" y="4846320"/>
            <a:ext cx="502920" cy="365760"/>
          </a:xfrm>
          <a:prstGeom prst="roundRect">
            <a:avLst>
              <a:gd name="adj" fmla="val 50000"/>
            </a:avLst>
          </a:prstGeom>
          <a:solidFill>
            <a:srgbClr val="112A46"/>
          </a:solidFill>
          <a:ln w="127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20440" y="4846320"/>
            <a:ext cx="5029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C9A24B"/>
                </a:solidFill>
                <a:latin typeface="Noto Sans CJK SC"/>
                <a:ea typeface="Noto Sans CJK SC"/>
              </a:rPr>
              <a:t>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544068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E8D5A3"/>
                </a:solidFill>
                <a:latin typeface="Noto Sans CJK SC"/>
                <a:ea typeface="Noto Sans CJK SC"/>
              </a:rPr>
              <a:t>其中一颗是培育钻 —— 您能分辨吗？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0" y="1691640"/>
            <a:ext cx="6583680" cy="566928"/>
          </a:xfrm>
          <a:prstGeom prst="roundRect">
            <a:avLst>
              <a:gd name="adj" fmla="val 18000"/>
            </a:avLst>
          </a:prstGeom>
          <a:solidFill>
            <a:srgbClr val="1E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029200" y="1691640"/>
            <a:ext cx="1234440" cy="566928"/>
          </a:xfrm>
          <a:prstGeom prst="roundRect">
            <a:avLst>
              <a:gd name="adj" fmla="val 18000"/>
            </a:avLst>
          </a:prstGeom>
          <a:solidFill>
            <a:srgbClr val="2E7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93208" y="1691640"/>
            <a:ext cx="111556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350" b="1" i="0">
                <a:solidFill>
                  <a:srgbClr val="FFFFFF"/>
                </a:solidFill>
                <a:latin typeface="Noto Sans CJK SC"/>
                <a:ea typeface="Noto Sans CJK SC"/>
              </a:rPr>
              <a:t>相同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1691640"/>
            <a:ext cx="51206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50" b="1" i="0">
                <a:solidFill>
                  <a:srgbClr val="FFFFFF"/>
                </a:solidFill>
                <a:latin typeface="Noto Sans CJK SC"/>
                <a:ea typeface="Noto Sans CJK SC"/>
              </a:rPr>
              <a:t>视觉 · 化学结构 · 硬度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0" y="2295144"/>
            <a:ext cx="65836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50" b="0" i="0">
                <a:solidFill>
                  <a:srgbClr val="B9C5D4"/>
                </a:solidFill>
                <a:latin typeface="Noto Sans CJK SC"/>
                <a:ea typeface="Noto Sans CJK SC"/>
              </a:rPr>
              <a:t>完全一致：同为碳晶体、莫氏硬度 10、同等火彩，肉眼与常规仪器无法区分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0" y="2898648"/>
            <a:ext cx="6583680" cy="566928"/>
          </a:xfrm>
          <a:prstGeom prst="roundRect">
            <a:avLst>
              <a:gd name="adj" fmla="val 18000"/>
            </a:avLst>
          </a:prstGeom>
          <a:solidFill>
            <a:srgbClr val="1E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029200" y="2898648"/>
            <a:ext cx="1234440" cy="566928"/>
          </a:xfrm>
          <a:prstGeom prst="roundRect">
            <a:avLst>
              <a:gd name="adj" fmla="val 18000"/>
            </a:avLst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93208" y="2898648"/>
            <a:ext cx="111556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350" b="1" i="0">
                <a:solidFill>
                  <a:srgbClr val="FFFFFF"/>
                </a:solidFill>
                <a:latin typeface="Noto Sans CJK SC"/>
                <a:ea typeface="Noto Sans CJK SC"/>
              </a:rPr>
              <a:t>1/3~1/5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2898648"/>
            <a:ext cx="51206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50" b="1" i="0">
                <a:solidFill>
                  <a:srgbClr val="FFFFFF"/>
                </a:solidFill>
                <a:latin typeface="Noto Sans CJK SC"/>
                <a:ea typeface="Noto Sans CJK SC"/>
              </a:rPr>
              <a:t>价格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0" y="3502152"/>
            <a:ext cx="65836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50" b="0" i="0">
                <a:solidFill>
                  <a:srgbClr val="B9C5D4"/>
                </a:solidFill>
                <a:latin typeface="Noto Sans CJK SC"/>
                <a:ea typeface="Noto Sans CJK SC"/>
              </a:rPr>
              <a:t>培育钻仅为天然钻的 1/3 ~ 1/5：同样预算，克拉数翻倍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0" y="4105656"/>
            <a:ext cx="6583680" cy="566928"/>
          </a:xfrm>
          <a:prstGeom prst="roundRect">
            <a:avLst>
              <a:gd name="adj" fmla="val 18000"/>
            </a:avLst>
          </a:prstGeom>
          <a:solidFill>
            <a:srgbClr val="1E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029200" y="4105656"/>
            <a:ext cx="1234440" cy="566928"/>
          </a:xfrm>
          <a:prstGeom prst="roundRect">
            <a:avLst>
              <a:gd name="adj" fmla="val 18000"/>
            </a:avLst>
          </a:prstGeom>
          <a:solidFill>
            <a:srgbClr val="B0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93208" y="4105656"/>
            <a:ext cx="111556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350" b="1" i="0">
                <a:solidFill>
                  <a:srgbClr val="FFFFFF"/>
                </a:solidFill>
                <a:latin typeface="Noto Sans CJK SC"/>
                <a:ea typeface="Noto Sans CJK SC"/>
              </a:rPr>
              <a:t>无上限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4105656"/>
            <a:ext cx="51206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50" b="1" i="0">
                <a:solidFill>
                  <a:srgbClr val="FFFFFF"/>
                </a:solidFill>
                <a:latin typeface="Noto Sans CJK SC"/>
                <a:ea typeface="Noto Sans CJK SC"/>
              </a:rPr>
              <a:t>供给能力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0" y="4709160"/>
            <a:ext cx="65836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50" b="0" i="0">
                <a:solidFill>
                  <a:srgbClr val="B9C5D4"/>
                </a:solidFill>
                <a:latin typeface="Noto Sans CJK SC"/>
                <a:ea typeface="Noto Sans CJK SC"/>
              </a:rPr>
              <a:t>天然钻依赖矿产开采、储量有限；培育钻可规模化量产、成本持续下降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0" y="5321808"/>
            <a:ext cx="6583680" cy="475488"/>
          </a:xfrm>
          <a:prstGeom prst="roundRect">
            <a:avLst>
              <a:gd name="adj" fmla="val 25000"/>
            </a:avLst>
          </a:prstGeom>
          <a:solidFill>
            <a:srgbClr val="1E3D5C"/>
          </a:solidFill>
          <a:ln w="127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257800" y="5321808"/>
            <a:ext cx="61264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C9A24B"/>
                </a:solidFill>
                <a:latin typeface="Noto Sans CJK SC"/>
                <a:ea typeface="Noto Sans CJK SC"/>
              </a:rPr>
              <a:t>美国市场信号：</a:t>
            </a:r>
            <a:r>
              <a:rPr sz="1250" b="0" i="0">
                <a:solidFill>
                  <a:srgbClr val="FFFFFF"/>
                </a:solidFill>
                <a:latin typeface="Noto Sans CJK SC"/>
                <a:ea typeface="Noto Sans CJK SC"/>
              </a:rPr>
              <a:t>培育钻在订婚戒中的渗透率逐年快速提升——年轻一代已用钱包投票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68680" y="5870448"/>
            <a:ext cx="10744200" cy="749808"/>
          </a:xfrm>
          <a:prstGeom prst="roundRect">
            <a:avLst>
              <a:gd name="adj" fmla="val 16000"/>
            </a:avLst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3000" y="5870448"/>
            <a:ext cx="1024128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650" b="1" i="0">
                <a:solidFill>
                  <a:srgbClr val="112A46"/>
                </a:solidFill>
                <a:latin typeface="Noto Sans CJK SC"/>
                <a:ea typeface="Noto Sans CJK SC"/>
              </a:rPr>
              <a:t>同样的钻石 · 三分之一的价格 · 无上限的供给 —— 供给革命遇上婚戒刚需，新品牌的窗口打开了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9264"/>
          </a:xfrm>
          <a:prstGeom prst="rect">
            <a:avLst/>
          </a:prstGeom>
          <a:solidFill>
            <a:srgbClr val="112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9264"/>
            <a:ext cx="12191695" cy="381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01168"/>
            <a:ext cx="96012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700" b="1" i="0">
                <a:solidFill>
                  <a:srgbClr val="FFFFFF"/>
                </a:solidFill>
                <a:latin typeface="Noto Sans CJK SC"/>
                <a:ea typeface="Noto Sans CJK SC"/>
              </a:rPr>
              <a:t>目录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15568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>
                <a:solidFill>
                  <a:srgbClr val="5A6470"/>
                </a:solidFill>
                <a:latin typeface="Noto Sans CJK SC"/>
                <a:ea typeface="Noto Sans CJK SC"/>
              </a:rPr>
              <a:t>对齐公司要求的六大要素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201168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600" b="1" i="0">
                <a:solidFill>
                  <a:srgbClr val="C9A24B"/>
                </a:solidFill>
                <a:latin typeface="Noto Sans CJK SC"/>
                <a:ea typeface="Noto Sans CJK SC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50" b="0" i="0">
                <a:solidFill>
                  <a:srgbClr val="AAA496"/>
                </a:solidFill>
                <a:latin typeface="Noto Sans CJK SC"/>
                <a:ea typeface="Noto Sans CJK SC"/>
              </a:rPr>
              <a:t>克拉先生 Mr. Karat · 裂变项目竞选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691640"/>
            <a:ext cx="5349240" cy="12618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800" y="1691640"/>
            <a:ext cx="82296" cy="1261872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8408" y="1856232"/>
            <a:ext cx="82296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C9A24B"/>
                </a:solidFill>
                <a:latin typeface="Noto Sans CJK SC"/>
                <a:ea typeface="Noto Sans CJK SC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1856232"/>
            <a:ext cx="406908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750" b="1" i="0">
                <a:solidFill>
                  <a:srgbClr val="112A46"/>
                </a:solidFill>
                <a:latin typeface="Noto Sans CJK SC"/>
                <a:ea typeface="Noto Sans CJK SC"/>
              </a:rPr>
              <a:t>项目介绍、产品及服务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50" b="0" i="0">
                <a:solidFill>
                  <a:srgbClr val="5A6470"/>
                </a:solidFill>
                <a:latin typeface="Noto Sans CJK SC"/>
                <a:ea typeface="Noto Sans CJK SC"/>
              </a:rPr>
              <a:t>美国培育钻婚戒赛道 × 个性化定制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0" y="1691640"/>
            <a:ext cx="5349240" cy="12618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9360" y="1691640"/>
            <a:ext cx="82296" cy="1261872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01968" y="1856232"/>
            <a:ext cx="82296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C9A24B"/>
                </a:solidFill>
                <a:latin typeface="Noto Sans CJK SC"/>
                <a:ea typeface="Noto Sans CJK SC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52360" y="1856232"/>
            <a:ext cx="406908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750" b="1" i="0">
                <a:solidFill>
                  <a:srgbClr val="112A46"/>
                </a:solidFill>
                <a:latin typeface="Noto Sans CJK SC"/>
                <a:ea typeface="Noto Sans CJK SC"/>
              </a:rPr>
              <a:t>商业模式及市场策略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50" b="0" i="0">
                <a:solidFill>
                  <a:srgbClr val="5A6470"/>
                </a:solidFill>
                <a:latin typeface="Noto Sans CJK SC"/>
                <a:ea typeface="Noto Sans CJK SC"/>
              </a:rPr>
              <a:t>五位一体模式 · 流媒体机会点 · 打法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3209544"/>
            <a:ext cx="5349240" cy="12618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85800" y="3209544"/>
            <a:ext cx="82296" cy="1261872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8408" y="3374136"/>
            <a:ext cx="82296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C9A24B"/>
                </a:solidFill>
                <a:latin typeface="Noto Sans CJK SC"/>
                <a:ea typeface="Noto Sans CJK SC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3374136"/>
            <a:ext cx="406908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750" b="1" i="0">
                <a:solidFill>
                  <a:srgbClr val="112A46"/>
                </a:solidFill>
                <a:latin typeface="Noto Sans CJK SC"/>
                <a:ea typeface="Noto Sans CJK SC"/>
              </a:rPr>
              <a:t>3 年独立核算财务预算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50" b="0" i="0">
                <a:solidFill>
                  <a:srgbClr val="5A6470"/>
                </a:solidFill>
                <a:latin typeface="Noto Sans CJK SC"/>
                <a:ea typeface="Noto Sans CJK SC"/>
              </a:rPr>
              <a:t>投入、收益与利润率测算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09360" y="3209544"/>
            <a:ext cx="5349240" cy="12618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309360" y="3209544"/>
            <a:ext cx="82296" cy="1261872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01968" y="3374136"/>
            <a:ext cx="82296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C9A24B"/>
                </a:solidFill>
                <a:latin typeface="Noto Sans CJK SC"/>
                <a:ea typeface="Noto Sans CJK SC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52360" y="3374136"/>
            <a:ext cx="406908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750" b="1" i="0">
                <a:solidFill>
                  <a:srgbClr val="112A46"/>
                </a:solidFill>
                <a:latin typeface="Noto Sans CJK SC"/>
                <a:ea typeface="Noto Sans CJK SC"/>
              </a:rPr>
              <a:t>投资总额度与出资结构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50" b="0" i="0">
                <a:solidFill>
                  <a:srgbClr val="5A6470"/>
                </a:solidFill>
                <a:latin typeface="Noto Sans CJK SC"/>
                <a:ea typeface="Noto Sans CJK SC"/>
              </a:rPr>
              <a:t>总投入 160 万 · 带头人及团队出资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5800" y="4727448"/>
            <a:ext cx="5349240" cy="12618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85800" y="4727448"/>
            <a:ext cx="82296" cy="1261872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78408" y="4892040"/>
            <a:ext cx="82296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C9A24B"/>
                </a:solidFill>
                <a:latin typeface="Noto Sans CJK SC"/>
                <a:ea typeface="Noto Sans CJK SC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28800" y="4892040"/>
            <a:ext cx="406908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750" b="1" i="0">
                <a:solidFill>
                  <a:srgbClr val="112A46"/>
                </a:solidFill>
                <a:latin typeface="Noto Sans CJK SC"/>
                <a:ea typeface="Noto Sans CJK SC"/>
              </a:rPr>
              <a:t>团队成员及职责介绍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50" b="0" i="0">
                <a:solidFill>
                  <a:srgbClr val="5A6470"/>
                </a:solidFill>
                <a:latin typeface="Noto Sans CJK SC"/>
                <a:ea typeface="Noto Sans CJK SC"/>
              </a:rPr>
              <a:t>投放 · 素材 · 供应链 · 定制服务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309360" y="4727448"/>
            <a:ext cx="5349240" cy="12618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309360" y="4727448"/>
            <a:ext cx="82296" cy="1261872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601968" y="4892040"/>
            <a:ext cx="82296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C9A24B"/>
                </a:solidFill>
                <a:latin typeface="Noto Sans CJK SC"/>
                <a:ea typeface="Noto Sans CJK SC"/>
              </a:rPr>
              <a:t>06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52360" y="4892040"/>
            <a:ext cx="406908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750" b="1" i="0">
                <a:solidFill>
                  <a:srgbClr val="112A46"/>
                </a:solidFill>
                <a:latin typeface="Noto Sans CJK SC"/>
                <a:ea typeface="Noto Sans CJK SC"/>
              </a:rPr>
              <a:t>为什么总经理是我（必答题）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50" b="0" i="0">
                <a:solidFill>
                  <a:srgbClr val="5A6470"/>
                </a:solidFill>
                <a:latin typeface="Noto Sans CJK SC"/>
                <a:ea typeface="Noto Sans CJK SC"/>
              </a:rPr>
              <a:t>被结果验证过的流媒体操盘手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9264"/>
          </a:xfrm>
          <a:prstGeom prst="rect">
            <a:avLst/>
          </a:prstGeom>
          <a:solidFill>
            <a:srgbClr val="112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9264"/>
            <a:ext cx="12191695" cy="381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01168"/>
            <a:ext cx="96012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700" b="1" i="0">
                <a:solidFill>
                  <a:srgbClr val="FFFFFF"/>
                </a:solidFill>
                <a:latin typeface="Noto Sans CJK SC"/>
                <a:ea typeface="Noto Sans CJK SC"/>
              </a:rPr>
              <a:t>01 · 项目介绍：产品及服务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15568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>
                <a:solidFill>
                  <a:srgbClr val="5A6470"/>
                </a:solidFill>
                <a:latin typeface="Noto Sans CJK SC"/>
                <a:ea typeface="Noto Sans CJK SC"/>
              </a:rPr>
              <a:t>在美国婚戒市场，用培育钻婚戒成品 + 顾问式服务切一块确定性增长的蛋糕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201168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600" b="1" i="0">
                <a:solidFill>
                  <a:srgbClr val="C9A24B"/>
                </a:solidFill>
                <a:latin typeface="Noto Sans CJK SC"/>
                <a:ea typeface="Noto Sans CJK SC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50" b="0" i="0">
                <a:solidFill>
                  <a:srgbClr val="AAA496"/>
                </a:solidFill>
                <a:latin typeface="Noto Sans CJK SC"/>
                <a:ea typeface="Noto Sans CJK SC"/>
              </a:rPr>
              <a:t>克拉先生 Mr. Karat · 裂变项目竞选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554480"/>
            <a:ext cx="5394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12A46"/>
                </a:solidFill>
                <a:latin typeface="Noto Sans CJK SC"/>
                <a:ea typeface="Noto Sans CJK SC"/>
              </a:rPr>
              <a:t>为什么是美国培育钻婚戒？</a:t>
            </a:r>
          </a:p>
        </p:txBody>
      </p:sp>
      <p:sp>
        <p:nvSpPr>
          <p:cNvPr id="10" name="Diamond 9"/>
          <p:cNvSpPr/>
          <p:nvPr/>
        </p:nvSpPr>
        <p:spPr>
          <a:xfrm>
            <a:off x="795528" y="2194560"/>
            <a:ext cx="146304" cy="146304"/>
          </a:xfrm>
          <a:prstGeom prst="diamond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093976"/>
            <a:ext cx="5029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50" b="1" i="0">
                <a:solidFill>
                  <a:srgbClr val="222A33"/>
                </a:solidFill>
                <a:latin typeface="Noto Sans CJK SC"/>
                <a:ea typeface="Noto Sans CJK SC"/>
              </a:rPr>
              <a:t>渗透率高速提升：</a:t>
            </a:r>
            <a:r>
              <a:rPr sz="1350" b="0" i="0">
                <a:solidFill>
                  <a:srgbClr val="5A6470"/>
                </a:solidFill>
                <a:latin typeface="Noto Sans CJK SC"/>
                <a:ea typeface="Noto Sans CJK SC"/>
              </a:rPr>
              <a:t>培育钻已成为美国婚戒主流选择之一，年轻一代接受度持续走高</a:t>
            </a:r>
          </a:p>
        </p:txBody>
      </p:sp>
      <p:sp>
        <p:nvSpPr>
          <p:cNvPr id="12" name="Diamond 11"/>
          <p:cNvSpPr/>
          <p:nvPr/>
        </p:nvSpPr>
        <p:spPr>
          <a:xfrm>
            <a:off x="795528" y="3090672"/>
            <a:ext cx="146304" cy="146304"/>
          </a:xfrm>
          <a:prstGeom prst="diamond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2990088"/>
            <a:ext cx="5029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50" b="1" i="0">
                <a:solidFill>
                  <a:srgbClr val="222A33"/>
                </a:solidFill>
                <a:latin typeface="Noto Sans CJK SC"/>
                <a:ea typeface="Noto Sans CJK SC"/>
              </a:rPr>
              <a:t>极致性价比：</a:t>
            </a:r>
            <a:r>
              <a:rPr sz="1350" b="0" i="0">
                <a:solidFill>
                  <a:srgbClr val="5A6470"/>
                </a:solidFill>
                <a:latin typeface="Noto Sans CJK SC"/>
                <a:ea typeface="Noto Sans CJK SC"/>
              </a:rPr>
              <a:t>同级品质价格约为天然钻的 1/3~1/5，同预算克拉数翻倍</a:t>
            </a:r>
          </a:p>
        </p:txBody>
      </p:sp>
      <p:sp>
        <p:nvSpPr>
          <p:cNvPr id="14" name="Diamond 13"/>
          <p:cNvSpPr/>
          <p:nvPr/>
        </p:nvSpPr>
        <p:spPr>
          <a:xfrm>
            <a:off x="795528" y="3986784"/>
            <a:ext cx="146304" cy="146304"/>
          </a:xfrm>
          <a:prstGeom prst="diamond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3886200"/>
            <a:ext cx="5029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50" b="1" i="0">
                <a:solidFill>
                  <a:srgbClr val="222A33"/>
                </a:solidFill>
                <a:latin typeface="Noto Sans CJK SC"/>
                <a:ea typeface="Noto Sans CJK SC"/>
              </a:rPr>
              <a:t>价值观契合：</a:t>
            </a:r>
            <a:r>
              <a:rPr sz="1350" b="0" i="0">
                <a:solidFill>
                  <a:srgbClr val="5A6470"/>
                </a:solidFill>
                <a:latin typeface="Noto Sans CJK SC"/>
                <a:ea typeface="Noto Sans CJK SC"/>
              </a:rPr>
              <a:t>环保、无开采争议，契合美国年轻婚恋人群的消费叙事</a:t>
            </a:r>
          </a:p>
        </p:txBody>
      </p:sp>
      <p:sp>
        <p:nvSpPr>
          <p:cNvPr id="16" name="Diamond 15"/>
          <p:cNvSpPr/>
          <p:nvPr/>
        </p:nvSpPr>
        <p:spPr>
          <a:xfrm>
            <a:off x="795528" y="4882896"/>
            <a:ext cx="146304" cy="146304"/>
          </a:xfrm>
          <a:prstGeom prst="diamond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4782312"/>
            <a:ext cx="5029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50" b="1" i="0">
                <a:solidFill>
                  <a:srgbClr val="222A33"/>
                </a:solidFill>
                <a:latin typeface="Noto Sans CJK SC"/>
                <a:ea typeface="Noto Sans CJK SC"/>
              </a:rPr>
              <a:t>情感品类高毛利：</a:t>
            </a:r>
            <a:r>
              <a:rPr sz="1350" b="0" i="0">
                <a:solidFill>
                  <a:srgbClr val="5A6470"/>
                </a:solidFill>
                <a:latin typeface="Noto Sans CJK SC"/>
                <a:ea typeface="Noto Sans CJK SC"/>
              </a:rPr>
              <a:t>婚戒是强情感品类，品牌与设计的溢价空间大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0" y="1554480"/>
            <a:ext cx="5120640" cy="4480560"/>
          </a:xfrm>
          <a:prstGeom prst="roundRect">
            <a:avLst>
              <a:gd name="adj" fmla="val 5000"/>
            </a:avLst>
          </a:prstGeom>
          <a:solidFill>
            <a:srgbClr val="112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66560" y="1828800"/>
            <a:ext cx="4389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C9A24B"/>
                </a:solidFill>
                <a:latin typeface="Noto Sans CJK SC"/>
                <a:ea typeface="Noto Sans CJK SC"/>
              </a:rPr>
              <a:t>我们卖什么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66560" y="2395728"/>
            <a:ext cx="44348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50" b="1" i="0">
                <a:solidFill>
                  <a:srgbClr val="E8D5A3"/>
                </a:solidFill>
                <a:latin typeface="Noto Sans CJK SC"/>
                <a:ea typeface="Noto Sans CJK SC"/>
              </a:rPr>
              <a:t>核心产品  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 i="0">
                <a:solidFill>
                  <a:srgbClr val="FFFFFF"/>
                </a:solidFill>
                <a:latin typeface="Noto Sans CJK SC"/>
                <a:ea typeface="Noto Sans CJK SC"/>
              </a:rPr>
              <a:t>培育钻婚戒成品款式库（IGI·GIA 证书培育钻 + K 金戒托），客单价约 $450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66560" y="3291840"/>
            <a:ext cx="44348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50" b="1" i="0">
                <a:solidFill>
                  <a:srgbClr val="E8D5A3"/>
                </a:solidFill>
                <a:latin typeface="Noto Sans CJK SC"/>
                <a:ea typeface="Noto Sans CJK SC"/>
              </a:rPr>
              <a:t>核心服务  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 i="0">
                <a:solidFill>
                  <a:srgbClr val="FFFFFF"/>
                </a:solidFill>
                <a:latin typeface="Noto Sans CJK SC"/>
                <a:ea typeface="Noto Sans CJK SC"/>
              </a:rPr>
              <a:t>1v1 顾问服务：选款推荐 → 效果确认 → 大师手作 → 保险直邮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66560" y="4187952"/>
            <a:ext cx="44348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50" b="1" i="0">
                <a:solidFill>
                  <a:srgbClr val="E8D5A3"/>
                </a:solidFill>
                <a:latin typeface="Noto Sans CJK SC"/>
                <a:ea typeface="Noto Sans CJK SC"/>
              </a:rPr>
              <a:t>增值服务  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 i="0">
                <a:solidFill>
                  <a:srgbClr val="FFFFFF"/>
                </a:solidFill>
                <a:latin typeface="Noto Sans CJK SC"/>
                <a:ea typeface="Noto Sans CJK SC"/>
              </a:rPr>
              <a:t>个性化定制、免费刻字、改圈、终身保养（可选加购）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66560" y="5084064"/>
            <a:ext cx="44348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50" b="1" i="0">
                <a:solidFill>
                  <a:srgbClr val="E8D5A3"/>
                </a:solidFill>
                <a:latin typeface="Noto Sans CJK SC"/>
                <a:ea typeface="Noto Sans CJK SC"/>
              </a:rPr>
              <a:t>销售渠道  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 i="0">
                <a:solidFill>
                  <a:srgbClr val="FFFFFF"/>
                </a:solidFill>
                <a:latin typeface="Noto Sans CJK SC"/>
                <a:ea typeface="Noto Sans CJK SC"/>
              </a:rPr>
              <a:t>品牌独立站 DTC 直达消费者，一件一做、按单生产，不依赖平台与门店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9264"/>
          </a:xfrm>
          <a:prstGeom prst="rect">
            <a:avLst/>
          </a:prstGeom>
          <a:solidFill>
            <a:srgbClr val="112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9264"/>
            <a:ext cx="12191695" cy="381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01168"/>
            <a:ext cx="96012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700" b="1" i="0">
                <a:solidFill>
                  <a:srgbClr val="FFFFFF"/>
                </a:solidFill>
                <a:latin typeface="Noto Sans CJK SC"/>
                <a:ea typeface="Noto Sans CJK SC"/>
              </a:rPr>
              <a:t>02 · 商业模式：五位一体 = 克拉先生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15568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>
                <a:solidFill>
                  <a:srgbClr val="5A6470"/>
                </a:solidFill>
                <a:latin typeface="Noto Sans CJK SC"/>
                <a:ea typeface="Noto Sans CJK SC"/>
              </a:rPr>
              <a:t>全链路自控：供应链 → 设计 → 制造 → 服务 → 销售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201168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600" b="1" i="0">
                <a:solidFill>
                  <a:srgbClr val="C9A24B"/>
                </a:solidFill>
                <a:latin typeface="Noto Sans CJK SC"/>
                <a:ea typeface="Noto Sans CJK SC"/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50" b="0" i="0">
                <a:solidFill>
                  <a:srgbClr val="AAA496"/>
                </a:solidFill>
                <a:latin typeface="Noto Sans CJK SC"/>
                <a:ea typeface="Noto Sans CJK SC"/>
              </a:rPr>
              <a:t>克拉先生 Mr. Karat · 裂变项目竞选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627632"/>
            <a:ext cx="1883664" cy="1371600"/>
          </a:xfrm>
          <a:prstGeom prst="roundRect">
            <a:avLst>
              <a:gd name="adj" fmla="val 10000"/>
            </a:avLst>
          </a:prstGeom>
          <a:solidFill>
            <a:srgbClr val="112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737360"/>
            <a:ext cx="1773936" cy="1152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550" b="1" i="0">
                <a:solidFill>
                  <a:srgbClr val="FFFFFF"/>
                </a:solidFill>
                <a:latin typeface="Noto Sans CJK SC"/>
                <a:ea typeface="Noto Sans CJK SC"/>
              </a:rPr>
              <a:t>印度一手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550" b="1" i="0">
                <a:solidFill>
                  <a:srgbClr val="FFFFFF"/>
                </a:solidFill>
                <a:latin typeface="Noto Sans CJK SC"/>
                <a:ea typeface="Noto Sans CJK SC"/>
              </a:rPr>
              <a:t>钻石源头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14016" y="1901952"/>
            <a:ext cx="530352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C9A24B"/>
                </a:solidFill>
                <a:latin typeface="Noto Sans CJK SC"/>
                <a:ea typeface="Noto Sans CJK SC"/>
              </a:rPr>
              <a:t>+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907792" y="1627632"/>
            <a:ext cx="1883664" cy="1371600"/>
          </a:xfrm>
          <a:prstGeom prst="roundRect">
            <a:avLst>
              <a:gd name="adj" fmla="val 10000"/>
            </a:avLst>
          </a:prstGeom>
          <a:solidFill>
            <a:srgbClr val="112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62656" y="1737360"/>
            <a:ext cx="1773936" cy="1152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550" b="1" i="0">
                <a:solidFill>
                  <a:srgbClr val="FFFFFF"/>
                </a:solidFill>
                <a:latin typeface="Noto Sans CJK SC"/>
                <a:ea typeface="Noto Sans CJK SC"/>
              </a:rPr>
              <a:t>Tiffany 同源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550" b="1" i="0">
                <a:solidFill>
                  <a:srgbClr val="FFFFFF"/>
                </a:solidFill>
                <a:latin typeface="Noto Sans CJK SC"/>
                <a:ea typeface="Noto Sans CJK SC"/>
              </a:rPr>
              <a:t>金工大师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1901952"/>
            <a:ext cx="530352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C9A24B"/>
                </a:solidFill>
                <a:latin typeface="Noto Sans CJK SC"/>
                <a:ea typeface="Noto Sans CJK SC"/>
              </a:rPr>
              <a:t>+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48656" y="1627632"/>
            <a:ext cx="1883664" cy="1371600"/>
          </a:xfrm>
          <a:prstGeom prst="roundRect">
            <a:avLst>
              <a:gd name="adj" fmla="val 10000"/>
            </a:avLst>
          </a:prstGeom>
          <a:solidFill>
            <a:srgbClr val="112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0" y="1737360"/>
            <a:ext cx="1773936" cy="1152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550" b="1" i="0">
                <a:solidFill>
                  <a:srgbClr val="FFFFFF"/>
                </a:solidFill>
                <a:latin typeface="Noto Sans CJK SC"/>
                <a:ea typeface="Noto Sans CJK SC"/>
              </a:rPr>
              <a:t>珠宝 AI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550" b="1" i="0">
                <a:solidFill>
                  <a:srgbClr val="FFFFFF"/>
                </a:solidFill>
                <a:latin typeface="Noto Sans CJK SC"/>
                <a:ea typeface="Noto Sans CJK SC"/>
              </a:rPr>
              <a:t>设计模型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95744" y="1901952"/>
            <a:ext cx="530352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C9A24B"/>
                </a:solidFill>
                <a:latin typeface="Noto Sans CJK SC"/>
                <a:ea typeface="Noto Sans CJK SC"/>
              </a:rPr>
              <a:t>+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589520" y="1627632"/>
            <a:ext cx="1883664" cy="1371600"/>
          </a:xfrm>
          <a:prstGeom prst="roundRect">
            <a:avLst>
              <a:gd name="adj" fmla="val 10000"/>
            </a:avLst>
          </a:prstGeom>
          <a:solidFill>
            <a:srgbClr val="112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44384" y="1737360"/>
            <a:ext cx="1773936" cy="1152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550" b="1" i="0">
                <a:solidFill>
                  <a:srgbClr val="FFFFFF"/>
                </a:solidFill>
                <a:latin typeface="Noto Sans CJK SC"/>
                <a:ea typeface="Noto Sans CJK SC"/>
              </a:rPr>
              <a:t>个性化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550" b="1" i="0">
                <a:solidFill>
                  <a:srgbClr val="FFFFFF"/>
                </a:solidFill>
                <a:latin typeface="Noto Sans CJK SC"/>
                <a:ea typeface="Noto Sans CJK SC"/>
              </a:rPr>
              <a:t>增值服务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36608" y="1901952"/>
            <a:ext cx="530352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C9A24B"/>
                </a:solidFill>
                <a:latin typeface="Noto Sans CJK SC"/>
                <a:ea typeface="Noto Sans CJK SC"/>
              </a:rPr>
              <a:t>+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930384" y="1627632"/>
            <a:ext cx="1883664" cy="1371600"/>
          </a:xfrm>
          <a:prstGeom prst="roundRect">
            <a:avLst>
              <a:gd name="adj" fmla="val 10000"/>
            </a:avLst>
          </a:prstGeom>
          <a:solidFill>
            <a:srgbClr val="112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985248" y="1737360"/>
            <a:ext cx="1773936" cy="1152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550" b="1" i="0">
                <a:solidFill>
                  <a:srgbClr val="FFFFFF"/>
                </a:solidFill>
                <a:latin typeface="Noto Sans CJK SC"/>
                <a:ea typeface="Noto Sans CJK SC"/>
              </a:rPr>
              <a:t>独立站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550" b="1" i="0">
                <a:solidFill>
                  <a:srgbClr val="FFFFFF"/>
                </a:solidFill>
                <a:latin typeface="Noto Sans CJK SC"/>
                <a:ea typeface="Noto Sans CJK SC"/>
              </a:rPr>
              <a:t>销售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3127248"/>
            <a:ext cx="110642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400" b="1" i="0">
                <a:solidFill>
                  <a:srgbClr val="C9A24B"/>
                </a:solidFill>
                <a:latin typeface="Noto Sans CJK SC"/>
                <a:ea typeface="Noto Sans CJK SC"/>
              </a:rPr>
              <a:t>＝  </a:t>
            </a:r>
            <a:r>
              <a:rPr sz="2100" b="1" i="0">
                <a:solidFill>
                  <a:srgbClr val="112A46"/>
                </a:solidFill>
                <a:latin typeface="Noto Sans CJK SC"/>
                <a:ea typeface="Noto Sans CJK SC"/>
              </a:rPr>
              <a:t>克拉先生 Mr. Karat：一件一做的美国培育钻婚戒品牌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3977639"/>
            <a:ext cx="265176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66928" y="3977639"/>
            <a:ext cx="2651760" cy="128016"/>
          </a:xfrm>
          <a:prstGeom prst="rect">
            <a:avLst/>
          </a:prstGeom>
          <a:solidFill>
            <a:srgbClr val="2E7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68096" y="4288535"/>
            <a:ext cx="22494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50" b="1" i="0">
                <a:solidFill>
                  <a:srgbClr val="112A46"/>
                </a:solidFill>
                <a:latin typeface="Noto Sans CJK SC"/>
                <a:ea typeface="Noto Sans CJK SC"/>
              </a:rPr>
              <a:t>零库存压力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4818887"/>
            <a:ext cx="2249424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0" i="0">
                <a:solidFill>
                  <a:srgbClr val="5A6470"/>
                </a:solidFill>
                <a:latin typeface="Noto Sans CJK SC"/>
                <a:ea typeface="Noto Sans CJK SC"/>
              </a:rPr>
              <a:t>一件一做、按单生产，无备货资金占用，天然低风险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438144" y="3977639"/>
            <a:ext cx="265176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438144" y="3977639"/>
            <a:ext cx="2651760" cy="128016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39312" y="4288535"/>
            <a:ext cx="22494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50" b="1" i="0">
                <a:solidFill>
                  <a:srgbClr val="112A46"/>
                </a:solidFill>
                <a:latin typeface="Noto Sans CJK SC"/>
                <a:ea typeface="Noto Sans CJK SC"/>
              </a:rPr>
              <a:t>AI 设计赋能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39312" y="4818887"/>
            <a:ext cx="2249424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0" i="0">
                <a:solidFill>
                  <a:srgbClr val="5A6470"/>
                </a:solidFill>
                <a:latin typeface="Noto Sans CJK SC"/>
                <a:ea typeface="Noto Sans CJK SC"/>
              </a:rPr>
              <a:t>AI 模型秒级出图，个性化设计效率和素材产能同步放大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09360" y="3977639"/>
            <a:ext cx="265176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309360" y="3977639"/>
            <a:ext cx="2651760" cy="128016"/>
          </a:xfrm>
          <a:prstGeom prst="rect">
            <a:avLst/>
          </a:prstGeom>
          <a:solidFill>
            <a:srgbClr val="1E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10528" y="4288535"/>
            <a:ext cx="22494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50" b="1" i="0">
                <a:solidFill>
                  <a:srgbClr val="112A46"/>
                </a:solidFill>
                <a:latin typeface="Noto Sans CJK SC"/>
                <a:ea typeface="Noto Sans CJK SC"/>
              </a:rPr>
              <a:t>大师级工艺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10528" y="4818887"/>
            <a:ext cx="2249424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0" i="0">
                <a:solidFill>
                  <a:srgbClr val="5A6470"/>
                </a:solidFill>
                <a:latin typeface="Noto Sans CJK SC"/>
                <a:ea typeface="Noto Sans CJK SC"/>
              </a:rPr>
              <a:t>Tiffany 同源体系金工大师手作，品质与品牌故事双背书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180576" y="3977639"/>
            <a:ext cx="265176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180576" y="3977639"/>
            <a:ext cx="2651760" cy="128016"/>
          </a:xfrm>
          <a:prstGeom prst="rect">
            <a:avLst/>
          </a:prstGeom>
          <a:solidFill>
            <a:srgbClr val="B0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381744" y="4288535"/>
            <a:ext cx="22494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50" b="1" i="0">
                <a:solidFill>
                  <a:srgbClr val="112A46"/>
                </a:solidFill>
                <a:latin typeface="Noto Sans CJK SC"/>
                <a:ea typeface="Noto Sans CJK SC"/>
              </a:rPr>
              <a:t>顾问式服务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381744" y="4818887"/>
            <a:ext cx="2249424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0" i="0">
                <a:solidFill>
                  <a:srgbClr val="5A6470"/>
                </a:solidFill>
                <a:latin typeface="Noto Sans CJK SC"/>
                <a:ea typeface="Noto Sans CJK SC"/>
              </a:rPr>
              <a:t>1v1 顾问承接询单，定制/刻字等增值服务提客单，转化与复购的基石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9264"/>
          </a:xfrm>
          <a:prstGeom prst="rect">
            <a:avLst/>
          </a:prstGeom>
          <a:solidFill>
            <a:srgbClr val="112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9264"/>
            <a:ext cx="12191695" cy="381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01168"/>
            <a:ext cx="96012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700" b="1" i="0">
                <a:solidFill>
                  <a:srgbClr val="FFFFFF"/>
                </a:solidFill>
                <a:latin typeface="Noto Sans CJK SC"/>
                <a:ea typeface="Noto Sans CJK SC"/>
              </a:rPr>
              <a:t>02 · 市场分析：竞品的流量盲区，就是我们的机会点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15568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>
                <a:solidFill>
                  <a:srgbClr val="5A6470"/>
                </a:solidFill>
                <a:latin typeface="Noto Sans CJK SC"/>
                <a:ea typeface="Noto Sans CJK SC"/>
              </a:rPr>
              <a:t>头部品牌重搜索与门店，社媒信息流投放渗透率极低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201168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600" b="1" i="0">
                <a:solidFill>
                  <a:srgbClr val="C9A24B"/>
                </a:solidFill>
                <a:latin typeface="Noto Sans CJK SC"/>
                <a:ea typeface="Noto Sans CJK SC"/>
              </a:rP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50" b="0" i="0">
                <a:solidFill>
                  <a:srgbClr val="AAA496"/>
                </a:solidFill>
                <a:latin typeface="Noto Sans CJK SC"/>
                <a:ea typeface="Noto Sans CJK SC"/>
              </a:rPr>
              <a:t>克拉先生 Mr. Karat · 裂变项目竞选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1627632"/>
            <a:ext cx="2286000" cy="676656"/>
          </a:xfrm>
          <a:prstGeom prst="rect">
            <a:avLst/>
          </a:prstGeom>
          <a:solidFill>
            <a:srgbClr val="112A46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6656" y="1627632"/>
            <a:ext cx="2066544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Noto Sans CJK SC"/>
                <a:ea typeface="Noto Sans CJK SC"/>
              </a:rPr>
              <a:t>流量打法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52928" y="1627632"/>
            <a:ext cx="2139696" cy="676656"/>
          </a:xfrm>
          <a:prstGeom prst="rect">
            <a:avLst/>
          </a:prstGeom>
          <a:solidFill>
            <a:srgbClr val="112A46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62656" y="1627632"/>
            <a:ext cx="192024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Noto Sans CJK SC"/>
                <a:ea typeface="Noto Sans CJK SC"/>
              </a:rPr>
              <a:t>BrilliantEarth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992624" y="1627632"/>
            <a:ext cx="2139696" cy="676656"/>
          </a:xfrm>
          <a:prstGeom prst="rect">
            <a:avLst/>
          </a:prstGeom>
          <a:solidFill>
            <a:srgbClr val="112A46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02352" y="1627632"/>
            <a:ext cx="192024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Noto Sans CJK SC"/>
                <a:ea typeface="Noto Sans CJK SC"/>
              </a:rPr>
              <a:t>Tiffany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132320" y="1627632"/>
            <a:ext cx="2139696" cy="676656"/>
          </a:xfrm>
          <a:prstGeom prst="rect">
            <a:avLst/>
          </a:prstGeom>
          <a:solidFill>
            <a:srgbClr val="112A46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42048" y="1627632"/>
            <a:ext cx="192024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Noto Sans CJK SC"/>
                <a:ea typeface="Noto Sans CJK SC"/>
              </a:rPr>
              <a:t>Cartier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272016" y="1627632"/>
            <a:ext cx="2322576" cy="676656"/>
          </a:xfrm>
          <a:prstGeom prst="rect">
            <a:avLst/>
          </a:prstGeom>
          <a:solidFill>
            <a:srgbClr val="C9A24B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81744" y="1627632"/>
            <a:ext cx="210312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Noto Sans CJK SC"/>
                <a:ea typeface="Noto Sans CJK SC"/>
              </a:rPr>
              <a:t>克拉先生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2304288"/>
            <a:ext cx="2286000" cy="676656"/>
          </a:xfrm>
          <a:prstGeom prst="rect">
            <a:avLst/>
          </a:prstGeom>
          <a:solidFill>
            <a:srgbClr val="FFFFFF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6656" y="2304288"/>
            <a:ext cx="2066544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222A33"/>
                </a:solidFill>
                <a:latin typeface="Noto Sans CJK SC"/>
                <a:ea typeface="Noto Sans CJK SC"/>
              </a:rPr>
              <a:t>线下品牌门店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852928" y="2304288"/>
            <a:ext cx="2139696" cy="676656"/>
          </a:xfrm>
          <a:prstGeom prst="rect">
            <a:avLst/>
          </a:prstGeom>
          <a:solidFill>
            <a:srgbClr val="FFFFFF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962656" y="2304288"/>
            <a:ext cx="192024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222A33"/>
                </a:solidFill>
                <a:latin typeface="Noto Sans CJK SC"/>
                <a:ea typeface="Noto Sans CJK SC"/>
              </a:rPr>
              <a:t>● 重投入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992624" y="2304288"/>
            <a:ext cx="2139696" cy="676656"/>
          </a:xfrm>
          <a:prstGeom prst="rect">
            <a:avLst/>
          </a:prstGeom>
          <a:solidFill>
            <a:srgbClr val="FFFFFF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102352" y="2304288"/>
            <a:ext cx="192024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222A33"/>
                </a:solidFill>
                <a:latin typeface="Noto Sans CJK SC"/>
                <a:ea typeface="Noto Sans CJK SC"/>
              </a:rPr>
              <a:t>●● 极重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132320" y="2304288"/>
            <a:ext cx="2139696" cy="676656"/>
          </a:xfrm>
          <a:prstGeom prst="rect">
            <a:avLst/>
          </a:prstGeom>
          <a:solidFill>
            <a:srgbClr val="FFFFFF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42048" y="2304288"/>
            <a:ext cx="192024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222A33"/>
                </a:solidFill>
                <a:latin typeface="Noto Sans CJK SC"/>
                <a:ea typeface="Noto Sans CJK SC"/>
              </a:rPr>
              <a:t>●● 极重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272016" y="2304288"/>
            <a:ext cx="2322576" cy="676656"/>
          </a:xfrm>
          <a:prstGeom prst="rect">
            <a:avLst/>
          </a:prstGeom>
          <a:solidFill>
            <a:srgbClr val="E8D5A3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81744" y="2304288"/>
            <a:ext cx="210312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112A46"/>
                </a:solidFill>
                <a:latin typeface="Noto Sans CJK SC"/>
                <a:ea typeface="Noto Sans CJK SC"/>
              </a:rPr>
              <a:t>— 无（轻资产）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66928" y="2980944"/>
            <a:ext cx="2286000" cy="676656"/>
          </a:xfrm>
          <a:prstGeom prst="rect">
            <a:avLst/>
          </a:prstGeom>
          <a:solidFill>
            <a:srgbClr val="F7F5F0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76656" y="2980944"/>
            <a:ext cx="2066544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222A33"/>
                </a:solidFill>
                <a:latin typeface="Noto Sans CJK SC"/>
                <a:ea typeface="Noto Sans CJK SC"/>
              </a:rPr>
              <a:t>Google 搜索 / SEO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852928" y="2980944"/>
            <a:ext cx="2139696" cy="676656"/>
          </a:xfrm>
          <a:prstGeom prst="rect">
            <a:avLst/>
          </a:prstGeom>
          <a:solidFill>
            <a:srgbClr val="F7F5F0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962656" y="2980944"/>
            <a:ext cx="192024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222A33"/>
                </a:solidFill>
                <a:latin typeface="Noto Sans CJK SC"/>
                <a:ea typeface="Noto Sans CJK SC"/>
              </a:rPr>
              <a:t>●● 主阵地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992624" y="2980944"/>
            <a:ext cx="2139696" cy="676656"/>
          </a:xfrm>
          <a:prstGeom prst="rect">
            <a:avLst/>
          </a:prstGeom>
          <a:solidFill>
            <a:srgbClr val="F7F5F0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102352" y="2980944"/>
            <a:ext cx="192024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222A33"/>
                </a:solidFill>
                <a:latin typeface="Noto Sans CJK SC"/>
                <a:ea typeface="Noto Sans CJK SC"/>
              </a:rPr>
              <a:t>● 品牌词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132320" y="2980944"/>
            <a:ext cx="2139696" cy="676656"/>
          </a:xfrm>
          <a:prstGeom prst="rect">
            <a:avLst/>
          </a:prstGeom>
          <a:solidFill>
            <a:srgbClr val="F7F5F0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242048" y="2980944"/>
            <a:ext cx="192024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222A33"/>
                </a:solidFill>
                <a:latin typeface="Noto Sans CJK SC"/>
                <a:ea typeface="Noto Sans CJK SC"/>
              </a:rPr>
              <a:t>● 品牌词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272016" y="2980944"/>
            <a:ext cx="2322576" cy="676656"/>
          </a:xfrm>
          <a:prstGeom prst="rect">
            <a:avLst/>
          </a:prstGeom>
          <a:solidFill>
            <a:srgbClr val="E8D5A3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381744" y="2980944"/>
            <a:ext cx="210312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112A46"/>
                </a:solidFill>
                <a:latin typeface="Noto Sans CJK SC"/>
                <a:ea typeface="Noto Sans CJK SC"/>
              </a:rPr>
              <a:t>○ 辅助承接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66928" y="3657600"/>
            <a:ext cx="2286000" cy="676656"/>
          </a:xfrm>
          <a:prstGeom prst="rect">
            <a:avLst/>
          </a:prstGeom>
          <a:solidFill>
            <a:srgbClr val="FFFFFF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76656" y="3657600"/>
            <a:ext cx="2066544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222A33"/>
                </a:solidFill>
                <a:latin typeface="Noto Sans CJK SC"/>
                <a:ea typeface="Noto Sans CJK SC"/>
              </a:rPr>
              <a:t>TT / FB / INS 信息流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852928" y="3657600"/>
            <a:ext cx="2139696" cy="676656"/>
          </a:xfrm>
          <a:prstGeom prst="rect">
            <a:avLst/>
          </a:prstGeom>
          <a:solidFill>
            <a:srgbClr val="FFFFFF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962656" y="3657600"/>
            <a:ext cx="192024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222A33"/>
                </a:solidFill>
                <a:latin typeface="Noto Sans CJK SC"/>
                <a:ea typeface="Noto Sans CJK SC"/>
              </a:rPr>
              <a:t>○ 渗透极低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992624" y="3657600"/>
            <a:ext cx="2139696" cy="676656"/>
          </a:xfrm>
          <a:prstGeom prst="rect">
            <a:avLst/>
          </a:prstGeom>
          <a:solidFill>
            <a:srgbClr val="FFFFFF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102352" y="3657600"/>
            <a:ext cx="192024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222A33"/>
                </a:solidFill>
                <a:latin typeface="Noto Sans CJK SC"/>
                <a:ea typeface="Noto Sans CJK SC"/>
              </a:rPr>
              <a:t>○ 几乎缺席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132320" y="3657600"/>
            <a:ext cx="2139696" cy="676656"/>
          </a:xfrm>
          <a:prstGeom prst="rect">
            <a:avLst/>
          </a:prstGeom>
          <a:solidFill>
            <a:srgbClr val="FFFFFF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242048" y="3657600"/>
            <a:ext cx="192024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222A33"/>
                </a:solidFill>
                <a:latin typeface="Noto Sans CJK SC"/>
                <a:ea typeface="Noto Sans CJK SC"/>
              </a:rPr>
              <a:t>○ 几乎缺席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272016" y="3657600"/>
            <a:ext cx="2322576" cy="676656"/>
          </a:xfrm>
          <a:prstGeom prst="rect">
            <a:avLst/>
          </a:prstGeom>
          <a:solidFill>
            <a:srgbClr val="E8D5A3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381744" y="3657600"/>
            <a:ext cx="210312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112A46"/>
                </a:solidFill>
                <a:latin typeface="Noto Sans CJK SC"/>
                <a:ea typeface="Noto Sans CJK SC"/>
              </a:rPr>
              <a:t>★ 主攻阵地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66928" y="4334256"/>
            <a:ext cx="2286000" cy="676656"/>
          </a:xfrm>
          <a:prstGeom prst="rect">
            <a:avLst/>
          </a:prstGeom>
          <a:solidFill>
            <a:srgbClr val="F7F5F0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76656" y="4334256"/>
            <a:ext cx="2066544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222A33"/>
                </a:solidFill>
                <a:latin typeface="Noto Sans CJK SC"/>
                <a:ea typeface="Noto Sans CJK SC"/>
              </a:rPr>
              <a:t>KOL / 素材生态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852928" y="4334256"/>
            <a:ext cx="2139696" cy="676656"/>
          </a:xfrm>
          <a:prstGeom prst="rect">
            <a:avLst/>
          </a:prstGeom>
          <a:solidFill>
            <a:srgbClr val="F7F5F0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962656" y="4334256"/>
            <a:ext cx="192024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222A33"/>
                </a:solidFill>
                <a:latin typeface="Noto Sans CJK SC"/>
                <a:ea typeface="Noto Sans CJK SC"/>
              </a:rPr>
              <a:t>○ 零散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992624" y="4334256"/>
            <a:ext cx="2139696" cy="676656"/>
          </a:xfrm>
          <a:prstGeom prst="rect">
            <a:avLst/>
          </a:prstGeom>
          <a:solidFill>
            <a:srgbClr val="F7F5F0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102352" y="4334256"/>
            <a:ext cx="192024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222A33"/>
                </a:solidFill>
                <a:latin typeface="Noto Sans CJK SC"/>
                <a:ea typeface="Noto Sans CJK SC"/>
              </a:rPr>
              <a:t>○ 传统广告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132320" y="4334256"/>
            <a:ext cx="2139696" cy="676656"/>
          </a:xfrm>
          <a:prstGeom prst="rect">
            <a:avLst/>
          </a:prstGeom>
          <a:solidFill>
            <a:srgbClr val="F7F5F0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242048" y="4334256"/>
            <a:ext cx="192024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222A33"/>
                </a:solidFill>
                <a:latin typeface="Noto Sans CJK SC"/>
                <a:ea typeface="Noto Sans CJK SC"/>
              </a:rPr>
              <a:t>○ 传统广告</a:t>
            </a:r>
          </a:p>
        </p:txBody>
      </p:sp>
      <p:sp>
        <p:nvSpPr>
          <p:cNvPr id="57" name="Rectangle 56"/>
          <p:cNvSpPr/>
          <p:nvPr/>
        </p:nvSpPr>
        <p:spPr>
          <a:xfrm>
            <a:off x="9272016" y="4334256"/>
            <a:ext cx="2322576" cy="676656"/>
          </a:xfrm>
          <a:prstGeom prst="rect">
            <a:avLst/>
          </a:prstGeom>
          <a:solidFill>
            <a:srgbClr val="E8D5A3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381744" y="4334256"/>
            <a:ext cx="210312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112A46"/>
                </a:solidFill>
                <a:latin typeface="Noto Sans CJK SC"/>
                <a:ea typeface="Noto Sans CJK SC"/>
              </a:rPr>
              <a:t>★ 母公司平台赋能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566928" y="5212080"/>
            <a:ext cx="11064240" cy="868680"/>
          </a:xfrm>
          <a:prstGeom prst="roundRect">
            <a:avLst>
              <a:gd name="adj" fmla="val 15000"/>
            </a:avLst>
          </a:prstGeom>
          <a:solidFill>
            <a:srgbClr val="112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14400" y="5212080"/>
            <a:ext cx="104241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 i="0">
                <a:solidFill>
                  <a:srgbClr val="C9A24B"/>
                </a:solidFill>
                <a:latin typeface="Noto Sans CJK SC"/>
                <a:ea typeface="Noto Sans CJK SC"/>
              </a:rPr>
              <a:t>机会点：</a:t>
            </a:r>
            <a:r>
              <a:rPr sz="1550" b="1" i="0">
                <a:solidFill>
                  <a:srgbClr val="FFFFFF"/>
                </a:solidFill>
                <a:latin typeface="Noto Sans CJK SC"/>
                <a:ea typeface="Noto Sans CJK SC"/>
              </a:rPr>
              <a:t>婚戒品类天然具备大克拉对比、定制过程等强视觉素材，正是社媒信息流最吃的内容——竞品未建立体系，我们先建。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9264"/>
          </a:xfrm>
          <a:prstGeom prst="rect">
            <a:avLst/>
          </a:prstGeom>
          <a:solidFill>
            <a:srgbClr val="112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9264"/>
            <a:ext cx="12191695" cy="381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01168"/>
            <a:ext cx="96012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700" b="1" i="0">
                <a:solidFill>
                  <a:srgbClr val="FFFFFF"/>
                </a:solidFill>
                <a:latin typeface="Noto Sans CJK SC"/>
                <a:ea typeface="Noto Sans CJK SC"/>
              </a:rPr>
              <a:t>02 · 市场策略：素材驱动的社媒打法 + 高客单信任体系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15568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>
                <a:solidFill>
                  <a:srgbClr val="5A6470"/>
                </a:solidFill>
                <a:latin typeface="Noto Sans CJK SC"/>
                <a:ea typeface="Noto Sans CJK SC"/>
              </a:rPr>
              <a:t>把流量优势转化为高客单订单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201168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600" b="1" i="0">
                <a:solidFill>
                  <a:srgbClr val="C9A24B"/>
                </a:solidFill>
                <a:latin typeface="Noto Sans CJK SC"/>
                <a:ea typeface="Noto Sans CJK SC"/>
              </a:rPr>
              <a:t>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50" b="0" i="0">
                <a:solidFill>
                  <a:srgbClr val="AAA496"/>
                </a:solidFill>
                <a:latin typeface="Noto Sans CJK SC"/>
                <a:ea typeface="Noto Sans CJK SC"/>
              </a:rPr>
              <a:t>克拉先生 Mr. Karat · 裂变项目竞选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600200"/>
            <a:ext cx="4937760" cy="768096"/>
          </a:xfrm>
          <a:prstGeom prst="roundRect">
            <a:avLst>
              <a:gd name="adj" fmla="val 30000"/>
            </a:avLst>
          </a:prstGeom>
          <a:solidFill>
            <a:srgbClr val="112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600200"/>
            <a:ext cx="493776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700" b="1" i="0">
                <a:solidFill>
                  <a:srgbClr val="FFFFFF"/>
                </a:solidFill>
                <a:latin typeface="Noto Sans CJK SC"/>
                <a:ea typeface="Noto Sans CJK SC"/>
              </a:rPr>
              <a:t>种草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97880" y="1600200"/>
            <a:ext cx="32004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0" i="0">
                <a:solidFill>
                  <a:srgbClr val="5A6470"/>
                </a:solidFill>
                <a:latin typeface="Noto Sans CJK SC"/>
                <a:ea typeface="Noto Sans CJK SC"/>
              </a:rPr>
              <a:t>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1560" y="2532888"/>
            <a:ext cx="4206240" cy="768096"/>
          </a:xfrm>
          <a:prstGeom prst="roundRect">
            <a:avLst>
              <a:gd name="adj" fmla="val 30000"/>
            </a:avLst>
          </a:prstGeom>
          <a:solidFill>
            <a:srgbClr val="1E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2532888"/>
            <a:ext cx="420624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700" b="1" i="0">
                <a:solidFill>
                  <a:srgbClr val="FFFFFF"/>
                </a:solidFill>
                <a:latin typeface="Noto Sans CJK SC"/>
                <a:ea typeface="Noto Sans CJK SC"/>
              </a:rPr>
              <a:t>留资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97880" y="2532888"/>
            <a:ext cx="32004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0" i="0">
                <a:solidFill>
                  <a:srgbClr val="5A6470"/>
                </a:solidFill>
                <a:latin typeface="Noto Sans CJK SC"/>
                <a:ea typeface="Noto Sans CJK SC"/>
              </a:rPr>
              <a:t>—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417320" y="3465576"/>
            <a:ext cx="3474720" cy="768096"/>
          </a:xfrm>
          <a:prstGeom prst="roundRect">
            <a:avLst>
              <a:gd name="adj" fmla="val 30000"/>
            </a:avLst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17320" y="3465576"/>
            <a:ext cx="347472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700" b="1" i="0">
                <a:solidFill>
                  <a:srgbClr val="FFFFFF"/>
                </a:solidFill>
                <a:latin typeface="Noto Sans CJK SC"/>
                <a:ea typeface="Noto Sans CJK SC"/>
              </a:rPr>
              <a:t>转化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97880" y="3465576"/>
            <a:ext cx="32004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0" i="0">
                <a:solidFill>
                  <a:srgbClr val="5A6470"/>
                </a:solidFill>
                <a:latin typeface="Noto Sans CJK SC"/>
                <a:ea typeface="Noto Sans CJK SC"/>
              </a:rPr>
              <a:t>—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783080" y="4398264"/>
            <a:ext cx="2743200" cy="768096"/>
          </a:xfrm>
          <a:prstGeom prst="roundRect">
            <a:avLst>
              <a:gd name="adj" fmla="val 30000"/>
            </a:avLst>
          </a:prstGeom>
          <a:solidFill>
            <a:srgbClr val="8A6D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783080" y="4398264"/>
            <a:ext cx="274320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700" b="1" i="0">
                <a:solidFill>
                  <a:srgbClr val="FFFFFF"/>
                </a:solidFill>
                <a:latin typeface="Noto Sans CJK SC"/>
                <a:ea typeface="Noto Sans CJK SC"/>
              </a:rPr>
              <a:t>裂变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97880" y="4398264"/>
            <a:ext cx="32004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0" i="0">
                <a:solidFill>
                  <a:srgbClr val="5A6470"/>
                </a:solidFill>
                <a:latin typeface="Noto Sans CJK SC"/>
                <a:ea typeface="Noto Sans CJK SC"/>
              </a:rPr>
              <a:t>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1801368"/>
            <a:ext cx="5394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 i="0">
                <a:solidFill>
                  <a:srgbClr val="112A46"/>
                </a:solidFill>
                <a:latin typeface="Noto Sans CJK SC"/>
                <a:ea typeface="Noto Sans CJK SC"/>
              </a:rPr>
              <a:t>种草：</a:t>
            </a:r>
            <a:r>
              <a:rPr sz="1300" b="0" i="0">
                <a:solidFill>
                  <a:srgbClr val="5A6470"/>
                </a:solidFill>
                <a:latin typeface="Noto Sans CJK SC"/>
                <a:ea typeface="Noto Sans CJK SC"/>
              </a:rPr>
              <a:t>TT/FB/INS 信息流 + KOL 真实开箱、求婚场景素材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63640" y="2734056"/>
            <a:ext cx="5394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 i="0">
                <a:solidFill>
                  <a:srgbClr val="112A46"/>
                </a:solidFill>
                <a:latin typeface="Noto Sans CJK SC"/>
                <a:ea typeface="Noto Sans CJK SC"/>
              </a:rPr>
              <a:t>留资：</a:t>
            </a:r>
            <a:r>
              <a:rPr sz="1300" b="0" i="0">
                <a:solidFill>
                  <a:srgbClr val="5A6470"/>
                </a:solidFill>
                <a:latin typeface="Noto Sans CJK SC"/>
                <a:ea typeface="Noto Sans CJK SC"/>
              </a:rPr>
              <a:t>独立站落地页 · AI 免费出图钩子 · 邮件/WhatsApp 私域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3666744"/>
            <a:ext cx="5394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 i="0">
                <a:solidFill>
                  <a:srgbClr val="112A46"/>
                </a:solidFill>
                <a:latin typeface="Noto Sans CJK SC"/>
                <a:ea typeface="Noto Sans CJK SC"/>
              </a:rPr>
              <a:t>转化：</a:t>
            </a:r>
            <a:r>
              <a:rPr sz="1300" b="0" i="0">
                <a:solidFill>
                  <a:srgbClr val="5A6470"/>
                </a:solidFill>
                <a:latin typeface="Noto Sans CJK SC"/>
                <a:ea typeface="Noto Sans CJK SC"/>
              </a:rPr>
              <a:t>1v1 顾问：选款推荐 → 效果图确认 → 分期支付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63640" y="4599432"/>
            <a:ext cx="5394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 i="0">
                <a:solidFill>
                  <a:srgbClr val="112A46"/>
                </a:solidFill>
                <a:latin typeface="Noto Sans CJK SC"/>
                <a:ea typeface="Noto Sans CJK SC"/>
              </a:rPr>
              <a:t>裂变：</a:t>
            </a:r>
            <a:r>
              <a:rPr sz="1300" b="0" i="0">
                <a:solidFill>
                  <a:srgbClr val="5A6470"/>
                </a:solidFill>
                <a:latin typeface="Noto Sans CJK SC"/>
                <a:ea typeface="Noto Sans CJK SC"/>
              </a:rPr>
              <a:t>婚礼晒单返现 · 周年钻饰复购 · 好友推荐计划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5800" y="5532120"/>
            <a:ext cx="10835640" cy="71323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524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05840" y="5532120"/>
            <a:ext cx="1033272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50" b="1" i="0">
                <a:solidFill>
                  <a:srgbClr val="C9A24B"/>
                </a:solidFill>
                <a:latin typeface="Noto Sans CJK SC"/>
                <a:ea typeface="Noto Sans CJK SC"/>
              </a:rPr>
              <a:t>高客单信任体系：</a:t>
            </a:r>
            <a:r>
              <a:rPr sz="1350" b="1" i="0">
                <a:solidFill>
                  <a:srgbClr val="112A46"/>
                </a:solidFill>
                <a:latin typeface="Noto Sans CJK SC"/>
                <a:ea typeface="Noto Sans CJK SC"/>
              </a:rPr>
              <a:t>IGI/GIA 权威证书 · 30 天无忧退换 · 保险物流直邮 · 真实客户评价库 · 终身保养承诺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9264"/>
          </a:xfrm>
          <a:prstGeom prst="rect">
            <a:avLst/>
          </a:prstGeom>
          <a:solidFill>
            <a:srgbClr val="112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9264"/>
            <a:ext cx="12191695" cy="381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01168"/>
            <a:ext cx="96012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700" b="1" i="0">
                <a:solidFill>
                  <a:srgbClr val="FFFFFF"/>
                </a:solidFill>
                <a:latin typeface="Noto Sans CJK SC"/>
                <a:ea typeface="Noto Sans CJK SC"/>
              </a:rPr>
              <a:t>03 · 3 年独立核算：投资与收益财务预算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15568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>
                <a:solidFill>
                  <a:srgbClr val="5A6470"/>
                </a:solidFill>
                <a:latin typeface="Noto Sans CJK SC"/>
                <a:ea typeface="Noto Sans CJK SC"/>
              </a:rPr>
              <a:t>总投入 160 万（3 年储备） · 净利率 15%~20% · 客单价按 $450（约 3,200 元）测算，示例口径可复核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201168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600" b="1" i="0">
                <a:solidFill>
                  <a:srgbClr val="C9A24B"/>
                </a:solidFill>
                <a:latin typeface="Noto Sans CJK SC"/>
                <a:ea typeface="Noto Sans CJK SC"/>
              </a:rPr>
              <a:t>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50" b="0" i="0">
                <a:solidFill>
                  <a:srgbClr val="AAA496"/>
                </a:solidFill>
                <a:latin typeface="Noto Sans CJK SC"/>
                <a:ea typeface="Noto Sans CJK SC"/>
              </a:rPr>
              <a:t>克拉先生 Mr. Karat · 裂变项目竞选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1572768"/>
            <a:ext cx="3017520" cy="512064"/>
          </a:xfrm>
          <a:prstGeom prst="rect">
            <a:avLst/>
          </a:prstGeom>
          <a:solidFill>
            <a:srgbClr val="112A46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04088" y="1572768"/>
            <a:ext cx="27432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Noto Sans CJK SC"/>
                <a:ea typeface="Noto Sans CJK SC"/>
              </a:rPr>
              <a:t>科目（万元人民币）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584448" y="1572768"/>
            <a:ext cx="2651760" cy="512064"/>
          </a:xfrm>
          <a:prstGeom prst="rect">
            <a:avLst/>
          </a:prstGeom>
          <a:solidFill>
            <a:srgbClr val="112A46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21608" y="1572768"/>
            <a:ext cx="237744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Noto Sans CJK SC"/>
                <a:ea typeface="Noto Sans CJK SC"/>
              </a:rPr>
              <a:t>第 1 年 · 验证期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36208" y="1572768"/>
            <a:ext cx="2651760" cy="512064"/>
          </a:xfrm>
          <a:prstGeom prst="rect">
            <a:avLst/>
          </a:prstGeom>
          <a:solidFill>
            <a:srgbClr val="112A46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3368" y="1572768"/>
            <a:ext cx="237744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Noto Sans CJK SC"/>
                <a:ea typeface="Noto Sans CJK SC"/>
              </a:rPr>
              <a:t>第 2 年 · 放量期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887968" y="1572768"/>
            <a:ext cx="2724912" cy="512064"/>
          </a:xfrm>
          <a:prstGeom prst="rect">
            <a:avLst/>
          </a:prstGeom>
          <a:solidFill>
            <a:srgbClr val="112A46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25128" y="1572768"/>
            <a:ext cx="2450592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Noto Sans CJK SC"/>
                <a:ea typeface="Noto Sans CJK SC"/>
              </a:rPr>
              <a:t>第 3 年 · 规模期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2084832"/>
            <a:ext cx="3017520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4088" y="2084832"/>
            <a:ext cx="27432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222A33"/>
                </a:solidFill>
                <a:latin typeface="Noto Sans CJK SC"/>
                <a:ea typeface="Noto Sans CJK SC"/>
              </a:rPr>
              <a:t>GMV（销售额）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584448" y="2084832"/>
            <a:ext cx="2651760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721608" y="2084832"/>
            <a:ext cx="237744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222A33"/>
                </a:solidFill>
                <a:latin typeface="Noto Sans CJK SC"/>
                <a:ea typeface="Noto Sans CJK SC"/>
              </a:rPr>
              <a:t>500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36208" y="2084832"/>
            <a:ext cx="2651760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73368" y="2084832"/>
            <a:ext cx="237744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222A33"/>
                </a:solidFill>
                <a:latin typeface="Noto Sans CJK SC"/>
                <a:ea typeface="Noto Sans CJK SC"/>
              </a:rPr>
              <a:t>1,500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887968" y="2084832"/>
            <a:ext cx="2724912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25128" y="2084832"/>
            <a:ext cx="2450592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222A33"/>
                </a:solidFill>
                <a:latin typeface="Noto Sans CJK SC"/>
                <a:ea typeface="Noto Sans CJK SC"/>
              </a:rPr>
              <a:t>3,600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6928" y="2596896"/>
            <a:ext cx="3017520" cy="512064"/>
          </a:xfrm>
          <a:prstGeom prst="rect">
            <a:avLst/>
          </a:prstGeom>
          <a:solidFill>
            <a:srgbClr val="F7F5F0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4088" y="2596896"/>
            <a:ext cx="27432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222A33"/>
                </a:solidFill>
                <a:latin typeface="Noto Sans CJK SC"/>
                <a:ea typeface="Noto Sans CJK SC"/>
              </a:rPr>
              <a:t>订单量（月均）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84448" y="2596896"/>
            <a:ext cx="2651760" cy="512064"/>
          </a:xfrm>
          <a:prstGeom prst="rect">
            <a:avLst/>
          </a:prstGeom>
          <a:solidFill>
            <a:srgbClr val="F7F5F0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721608" y="2596896"/>
            <a:ext cx="237744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222A33"/>
                </a:solidFill>
                <a:latin typeface="Noto Sans CJK SC"/>
                <a:ea typeface="Noto Sans CJK SC"/>
              </a:rPr>
              <a:t>约 1,560 单（月均 130）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36208" y="2596896"/>
            <a:ext cx="2651760" cy="512064"/>
          </a:xfrm>
          <a:prstGeom prst="rect">
            <a:avLst/>
          </a:prstGeom>
          <a:solidFill>
            <a:srgbClr val="F7F5F0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2596896"/>
            <a:ext cx="237744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222A33"/>
                </a:solidFill>
                <a:latin typeface="Noto Sans CJK SC"/>
                <a:ea typeface="Noto Sans CJK SC"/>
              </a:rPr>
              <a:t>约 4,690 单（月均 390）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887968" y="2596896"/>
            <a:ext cx="2724912" cy="512064"/>
          </a:xfrm>
          <a:prstGeom prst="rect">
            <a:avLst/>
          </a:prstGeom>
          <a:solidFill>
            <a:srgbClr val="F7F5F0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25128" y="2596896"/>
            <a:ext cx="2450592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222A33"/>
                </a:solidFill>
                <a:latin typeface="Noto Sans CJK SC"/>
                <a:ea typeface="Noto Sans CJK SC"/>
              </a:rPr>
              <a:t>约 11,250 单（月均 940）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66928" y="3108960"/>
            <a:ext cx="3017520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4088" y="3108960"/>
            <a:ext cx="27432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222A33"/>
                </a:solidFill>
                <a:latin typeface="Noto Sans CJK SC"/>
                <a:ea typeface="Noto Sans CJK SC"/>
              </a:rPr>
              <a:t>广告及营销投放（40%）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584448" y="3108960"/>
            <a:ext cx="2651760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721608" y="3108960"/>
            <a:ext cx="237744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222A33"/>
                </a:solidFill>
                <a:latin typeface="Noto Sans CJK SC"/>
                <a:ea typeface="Noto Sans CJK SC"/>
              </a:rPr>
              <a:t>200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236208" y="3108960"/>
            <a:ext cx="2651760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73368" y="3108960"/>
            <a:ext cx="237744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222A33"/>
                </a:solidFill>
                <a:latin typeface="Noto Sans CJK SC"/>
                <a:ea typeface="Noto Sans CJK SC"/>
              </a:rPr>
              <a:t>600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887968" y="3108960"/>
            <a:ext cx="2724912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025128" y="3108960"/>
            <a:ext cx="2450592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222A33"/>
                </a:solidFill>
                <a:latin typeface="Noto Sans CJK SC"/>
                <a:ea typeface="Noto Sans CJK SC"/>
              </a:rPr>
              <a:t>1,440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66928" y="3621024"/>
            <a:ext cx="3017520" cy="512064"/>
          </a:xfrm>
          <a:prstGeom prst="rect">
            <a:avLst/>
          </a:prstGeom>
          <a:solidFill>
            <a:srgbClr val="F7F5F0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04088" y="3621024"/>
            <a:ext cx="27432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222A33"/>
                </a:solidFill>
                <a:latin typeface="Noto Sans CJK SC"/>
                <a:ea typeface="Noto Sans CJK SC"/>
              </a:rPr>
              <a:t>货品及履约成本（30%）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584448" y="3621024"/>
            <a:ext cx="2651760" cy="512064"/>
          </a:xfrm>
          <a:prstGeom prst="rect">
            <a:avLst/>
          </a:prstGeom>
          <a:solidFill>
            <a:srgbClr val="F7F5F0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721608" y="3621024"/>
            <a:ext cx="237744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222A33"/>
                </a:solidFill>
                <a:latin typeface="Noto Sans CJK SC"/>
                <a:ea typeface="Noto Sans CJK SC"/>
              </a:rPr>
              <a:t>150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236208" y="3621024"/>
            <a:ext cx="2651760" cy="512064"/>
          </a:xfrm>
          <a:prstGeom prst="rect">
            <a:avLst/>
          </a:prstGeom>
          <a:solidFill>
            <a:srgbClr val="F7F5F0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373368" y="3621024"/>
            <a:ext cx="237744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222A33"/>
                </a:solidFill>
                <a:latin typeface="Noto Sans CJK SC"/>
                <a:ea typeface="Noto Sans CJK SC"/>
              </a:rPr>
              <a:t>450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887968" y="3621024"/>
            <a:ext cx="2724912" cy="512064"/>
          </a:xfrm>
          <a:prstGeom prst="rect">
            <a:avLst/>
          </a:prstGeom>
          <a:solidFill>
            <a:srgbClr val="F7F5F0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025128" y="3621024"/>
            <a:ext cx="2450592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222A33"/>
                </a:solidFill>
                <a:latin typeface="Noto Sans CJK SC"/>
                <a:ea typeface="Noto Sans CJK SC"/>
              </a:rPr>
              <a:t>1,080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66928" y="4133088"/>
            <a:ext cx="3017520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04088" y="4133088"/>
            <a:ext cx="27432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222A33"/>
                </a:solidFill>
                <a:latin typeface="Noto Sans CJK SC"/>
                <a:ea typeface="Noto Sans CJK SC"/>
              </a:rPr>
              <a:t>团队及运营费用（8%）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584448" y="4133088"/>
            <a:ext cx="2651760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721608" y="4133088"/>
            <a:ext cx="237744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222A33"/>
                </a:solidFill>
                <a:latin typeface="Noto Sans CJK SC"/>
                <a:ea typeface="Noto Sans CJK SC"/>
              </a:rPr>
              <a:t>40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236208" y="4133088"/>
            <a:ext cx="2651760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73368" y="4133088"/>
            <a:ext cx="237744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222A33"/>
                </a:solidFill>
                <a:latin typeface="Noto Sans CJK SC"/>
                <a:ea typeface="Noto Sans CJK SC"/>
              </a:rPr>
              <a:t>120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887968" y="4133088"/>
            <a:ext cx="2724912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025128" y="4133088"/>
            <a:ext cx="2450592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222A33"/>
                </a:solidFill>
                <a:latin typeface="Noto Sans CJK SC"/>
                <a:ea typeface="Noto Sans CJK SC"/>
              </a:rPr>
              <a:t>288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66928" y="4645152"/>
            <a:ext cx="3017520" cy="512064"/>
          </a:xfrm>
          <a:prstGeom prst="rect">
            <a:avLst/>
          </a:prstGeom>
          <a:solidFill>
            <a:srgbClr val="E8D5A3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04088" y="4645152"/>
            <a:ext cx="27432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112A46"/>
                </a:solidFill>
                <a:latin typeface="Noto Sans CJK SC"/>
                <a:ea typeface="Noto Sans CJK SC"/>
              </a:rPr>
              <a:t>经营利润（约 22%）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584448" y="4645152"/>
            <a:ext cx="2651760" cy="512064"/>
          </a:xfrm>
          <a:prstGeom prst="rect">
            <a:avLst/>
          </a:prstGeom>
          <a:solidFill>
            <a:srgbClr val="E8D5A3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721608" y="4645152"/>
            <a:ext cx="237744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112A46"/>
                </a:solidFill>
                <a:latin typeface="Noto Sans CJK SC"/>
                <a:ea typeface="Noto Sans CJK SC"/>
              </a:rPr>
              <a:t>110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236208" y="4645152"/>
            <a:ext cx="2651760" cy="512064"/>
          </a:xfrm>
          <a:prstGeom prst="rect">
            <a:avLst/>
          </a:prstGeom>
          <a:solidFill>
            <a:srgbClr val="E8D5A3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373368" y="4645152"/>
            <a:ext cx="237744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112A46"/>
                </a:solidFill>
                <a:latin typeface="Noto Sans CJK SC"/>
                <a:ea typeface="Noto Sans CJK SC"/>
              </a:rPr>
              <a:t>330</a:t>
            </a:r>
          </a:p>
        </p:txBody>
      </p:sp>
      <p:sp>
        <p:nvSpPr>
          <p:cNvPr id="63" name="Rectangle 62"/>
          <p:cNvSpPr/>
          <p:nvPr/>
        </p:nvSpPr>
        <p:spPr>
          <a:xfrm>
            <a:off x="8887968" y="4645152"/>
            <a:ext cx="2724912" cy="512064"/>
          </a:xfrm>
          <a:prstGeom prst="rect">
            <a:avLst/>
          </a:prstGeom>
          <a:solidFill>
            <a:srgbClr val="E8D5A3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9025128" y="4645152"/>
            <a:ext cx="2450592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112A46"/>
                </a:solidFill>
                <a:latin typeface="Noto Sans CJK SC"/>
                <a:ea typeface="Noto Sans CJK SC"/>
              </a:rPr>
              <a:t>792</a:t>
            </a:r>
          </a:p>
        </p:txBody>
      </p:sp>
      <p:sp>
        <p:nvSpPr>
          <p:cNvPr id="65" name="Diamond 64"/>
          <p:cNvSpPr/>
          <p:nvPr/>
        </p:nvSpPr>
        <p:spPr>
          <a:xfrm>
            <a:off x="685800" y="5340096"/>
            <a:ext cx="128016" cy="128016"/>
          </a:xfrm>
          <a:prstGeom prst="diamond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960120" y="5266944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112A46"/>
                </a:solidFill>
                <a:latin typeface="Noto Sans CJK SC"/>
                <a:ea typeface="Noto Sans CJK SC"/>
              </a:rPr>
              <a:t>单量口径：</a:t>
            </a:r>
            <a:r>
              <a:rPr sz="1200" b="0" i="0">
                <a:solidFill>
                  <a:srgbClr val="5A6470"/>
                </a:solidFill>
                <a:latin typeface="Noto Sans CJK SC"/>
                <a:ea typeface="Noto Sans CJK SC"/>
              </a:rPr>
              <a:t>第一年月均约 130 单、日均 4~5 单即达标——对专业投放团队，这是保守的起步目标，可拆到每条广告线复核</a:t>
            </a:r>
          </a:p>
        </p:txBody>
      </p:sp>
      <p:sp>
        <p:nvSpPr>
          <p:cNvPr id="67" name="Diamond 66"/>
          <p:cNvSpPr/>
          <p:nvPr/>
        </p:nvSpPr>
        <p:spPr>
          <a:xfrm>
            <a:off x="685800" y="5705856"/>
            <a:ext cx="128016" cy="128016"/>
          </a:xfrm>
          <a:prstGeom prst="diamond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60120" y="5632704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112A46"/>
                </a:solidFill>
                <a:latin typeface="Noto Sans CJK SC"/>
                <a:ea typeface="Noto Sans CJK SC"/>
              </a:rPr>
              <a:t>成本结构：</a:t>
            </a:r>
            <a:r>
              <a:rPr sz="1200" b="0" i="0">
                <a:solidFill>
                  <a:srgbClr val="5A6470"/>
                </a:solidFill>
                <a:latin typeface="Noto Sans CJK SC"/>
                <a:ea typeface="Noto Sans CJK SC"/>
              </a:rPr>
              <a:t>广告 40% + 货品 30% + 团队运营 8%，经营利润率约 22%；扣除支付手续费、物流保险等杂费后净利率 15%~20%</a:t>
            </a:r>
          </a:p>
        </p:txBody>
      </p:sp>
      <p:sp>
        <p:nvSpPr>
          <p:cNvPr id="69" name="Diamond 68"/>
          <p:cNvSpPr/>
          <p:nvPr/>
        </p:nvSpPr>
        <p:spPr>
          <a:xfrm>
            <a:off x="685800" y="6071616"/>
            <a:ext cx="128016" cy="128016"/>
          </a:xfrm>
          <a:prstGeom prst="diamond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960120" y="5998464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112A46"/>
                </a:solidFill>
                <a:latin typeface="Noto Sans CJK SC"/>
                <a:ea typeface="Noto Sans CJK SC"/>
              </a:rPr>
              <a:t>零库存模型：</a:t>
            </a:r>
            <a:r>
              <a:rPr sz="1200" b="0" i="0">
                <a:solidFill>
                  <a:srgbClr val="5A6470"/>
                </a:solidFill>
                <a:latin typeface="Noto Sans CJK SC"/>
                <a:ea typeface="Noto Sans CJK SC"/>
              </a:rPr>
              <a:t>一件一做，货品成本随订单发生，160 万主要投向流量与团队，资金效率高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9264"/>
          </a:xfrm>
          <a:prstGeom prst="rect">
            <a:avLst/>
          </a:prstGeom>
          <a:solidFill>
            <a:srgbClr val="112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9264"/>
            <a:ext cx="12191695" cy="381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01168"/>
            <a:ext cx="96012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700" b="1" i="0">
                <a:solidFill>
                  <a:srgbClr val="FFFFFF"/>
                </a:solidFill>
                <a:latin typeface="Noto Sans CJK SC"/>
                <a:ea typeface="Noto Sans CJK SC"/>
              </a:rPr>
              <a:t>04 · 项目投资总额度 · 带头人及团队出资额度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15568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>
                <a:solidFill>
                  <a:srgbClr val="5A6470"/>
                </a:solidFill>
                <a:latin typeface="Noto Sans CJK SC"/>
                <a:ea typeface="Noto Sans CJK SC"/>
              </a:rPr>
              <a:t>跟投绑定：我们自己先押上真金白银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201168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600" b="1" i="0">
                <a:solidFill>
                  <a:srgbClr val="C9A24B"/>
                </a:solidFill>
                <a:latin typeface="Noto Sans CJK SC"/>
                <a:ea typeface="Noto Sans CJK SC"/>
              </a:rPr>
              <a:t>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50" b="0" i="0">
                <a:solidFill>
                  <a:srgbClr val="AAA496"/>
                </a:solidFill>
                <a:latin typeface="Noto Sans CJK SC"/>
                <a:ea typeface="Noto Sans CJK SC"/>
              </a:rPr>
              <a:t>克拉先生 Mr. Karat · 裂变项目竞选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691640"/>
            <a:ext cx="4297680" cy="4297680"/>
          </a:xfrm>
          <a:prstGeom prst="roundRect">
            <a:avLst>
              <a:gd name="adj" fmla="val 6000"/>
            </a:avLst>
          </a:prstGeom>
          <a:solidFill>
            <a:srgbClr val="112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057400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700" b="1" i="0">
                <a:solidFill>
                  <a:srgbClr val="E8D5A3"/>
                </a:solidFill>
                <a:latin typeface="Noto Sans CJK SC"/>
                <a:ea typeface="Noto Sans CJK SC"/>
              </a:rPr>
              <a:t>项目投资总额度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606040"/>
            <a:ext cx="39319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5600" b="1" i="0">
                <a:solidFill>
                  <a:srgbClr val="FFFFFF"/>
                </a:solidFill>
                <a:latin typeface="Noto Sans CJK SC"/>
                <a:ea typeface="Noto Sans CJK SC"/>
              </a:rPr>
              <a:t>160 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794760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450" b="0" i="0">
                <a:solidFill>
                  <a:srgbClr val="E8D5A3"/>
                </a:solidFill>
                <a:latin typeface="Noto Sans CJK SC"/>
                <a:ea typeface="Noto Sans CJK SC"/>
              </a:rPr>
              <a:t>3 年运营储备 · 独立核算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234440" y="4434840"/>
            <a:ext cx="3200400" cy="127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4617720"/>
            <a:ext cx="3931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1550" b="1" i="0">
                <a:solidFill>
                  <a:srgbClr val="FFFFFF"/>
                </a:solidFill>
                <a:latin typeface="Noto Sans CJK SC"/>
                <a:ea typeface="Noto Sans CJK SC"/>
              </a:rPr>
              <a:t>带头人出资：____ 万</a:t>
            </a:r>
          </a:p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1550" b="1" i="0">
                <a:solidFill>
                  <a:srgbClr val="FFFFFF"/>
                </a:solidFill>
                <a:latin typeface="Noto Sans CJK SC"/>
                <a:ea typeface="Noto Sans CJK SC"/>
              </a:rPr>
              <a:t>核心团队合计：____ 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0" y="1691640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1" i="0">
                <a:solidFill>
                  <a:srgbClr val="112A46"/>
                </a:solidFill>
                <a:latin typeface="Noto Sans CJK SC"/>
                <a:ea typeface="Noto Sans CJK SC"/>
              </a:rPr>
              <a:t>资金用途规划（示例占比）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0" y="228600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222A33"/>
                </a:solidFill>
                <a:latin typeface="Noto Sans CJK SC"/>
                <a:ea typeface="Noto Sans CJK SC"/>
              </a:rPr>
              <a:t>流量投放与素材制作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0" y="2633472"/>
            <a:ext cx="3749039" cy="237744"/>
          </a:xfrm>
          <a:prstGeom prst="rect">
            <a:avLst/>
          </a:prstGeom>
          <a:solidFill>
            <a:srgbClr val="E7E3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0" y="2633472"/>
            <a:ext cx="1874519" cy="237744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72599" y="2523744"/>
            <a:ext cx="1097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112A46"/>
                </a:solidFill>
                <a:latin typeface="Noto Sans CJK SC"/>
                <a:ea typeface="Noto Sans CJK SC"/>
              </a:rPr>
              <a:t>50%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0" y="3044952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222A33"/>
                </a:solidFill>
                <a:latin typeface="Noto Sans CJK SC"/>
                <a:ea typeface="Noto Sans CJK SC"/>
              </a:rPr>
              <a:t>团队薪酬与运营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0" y="3392424"/>
            <a:ext cx="3749039" cy="237744"/>
          </a:xfrm>
          <a:prstGeom prst="rect">
            <a:avLst/>
          </a:prstGeom>
          <a:solidFill>
            <a:srgbClr val="E7E3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0" y="3392424"/>
            <a:ext cx="937259" cy="237744"/>
          </a:xfrm>
          <a:prstGeom prst="rect">
            <a:avLst/>
          </a:prstGeom>
          <a:solidFill>
            <a:srgbClr val="1E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72599" y="3282696"/>
            <a:ext cx="1097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112A46"/>
                </a:solidFill>
                <a:latin typeface="Noto Sans CJK SC"/>
                <a:ea typeface="Noto Sans CJK SC"/>
              </a:rPr>
              <a:t>25%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0" y="3803904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222A33"/>
                </a:solidFill>
                <a:latin typeface="Noto Sans CJK SC"/>
                <a:ea typeface="Noto Sans CJK SC"/>
              </a:rPr>
              <a:t>独立站建设与工具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0" y="4151376"/>
            <a:ext cx="3749039" cy="237744"/>
          </a:xfrm>
          <a:prstGeom prst="rect">
            <a:avLst/>
          </a:prstGeom>
          <a:solidFill>
            <a:srgbClr val="E7E3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486400" y="4151376"/>
            <a:ext cx="374903" cy="237744"/>
          </a:xfrm>
          <a:prstGeom prst="rect">
            <a:avLst/>
          </a:prstGeom>
          <a:solidFill>
            <a:srgbClr val="2E7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72599" y="4041648"/>
            <a:ext cx="1097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112A46"/>
                </a:solidFill>
                <a:latin typeface="Noto Sans CJK SC"/>
                <a:ea typeface="Noto Sans CJK SC"/>
              </a:rPr>
              <a:t>10%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0" y="4562856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222A33"/>
                </a:solidFill>
                <a:latin typeface="Noto Sans CJK SC"/>
                <a:ea typeface="Noto Sans CJK SC"/>
              </a:rPr>
              <a:t>样品打版与认证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0" y="4910328"/>
            <a:ext cx="3749039" cy="237744"/>
          </a:xfrm>
          <a:prstGeom prst="rect">
            <a:avLst/>
          </a:prstGeom>
          <a:solidFill>
            <a:srgbClr val="E7E3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486400" y="4910328"/>
            <a:ext cx="299923" cy="237744"/>
          </a:xfrm>
          <a:prstGeom prst="rect">
            <a:avLst/>
          </a:prstGeom>
          <a:solidFill>
            <a:srgbClr val="B0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72599" y="4800600"/>
            <a:ext cx="1097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112A46"/>
                </a:solidFill>
                <a:latin typeface="Noto Sans CJK SC"/>
                <a:ea typeface="Noto Sans CJK SC"/>
              </a:rPr>
              <a:t>8%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0" y="5321808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222A33"/>
                </a:solidFill>
                <a:latin typeface="Noto Sans CJK SC"/>
                <a:ea typeface="Noto Sans CJK SC"/>
              </a:rPr>
              <a:t>风险备用金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0" y="5669280"/>
            <a:ext cx="3749039" cy="237744"/>
          </a:xfrm>
          <a:prstGeom prst="rect">
            <a:avLst/>
          </a:prstGeom>
          <a:solidFill>
            <a:srgbClr val="E7E3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486400" y="5669280"/>
            <a:ext cx="262432" cy="237744"/>
          </a:xfrm>
          <a:prstGeom prst="rect">
            <a:avLst/>
          </a:prstGeom>
          <a:solidFill>
            <a:srgbClr val="5A6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72599" y="5559552"/>
            <a:ext cx="1097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112A46"/>
                </a:solidFill>
                <a:latin typeface="Noto Sans CJK SC"/>
                <a:ea typeface="Noto Sans CJK SC"/>
              </a:rPr>
              <a:t>7%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0" y="6172200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50" b="0" i="0">
                <a:solidFill>
                  <a:srgbClr val="5A6470"/>
                </a:solidFill>
                <a:latin typeface="Noto Sans CJK SC"/>
                <a:ea typeface="Noto Sans CJK SC"/>
              </a:rPr>
              <a:t>注：出资额度以公司裂变机制要求为准，上台前填入实际数字。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9264"/>
          </a:xfrm>
          <a:prstGeom prst="rect">
            <a:avLst/>
          </a:prstGeom>
          <a:solidFill>
            <a:srgbClr val="112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9264"/>
            <a:ext cx="12191695" cy="381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01168"/>
            <a:ext cx="96012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700" b="1" i="0">
                <a:solidFill>
                  <a:srgbClr val="FFFFFF"/>
                </a:solidFill>
                <a:latin typeface="Noto Sans CJK SC"/>
                <a:ea typeface="Noto Sans CJK SC"/>
              </a:rPr>
              <a:t>05 · 团队成员及职责介绍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15568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>
                <a:solidFill>
                  <a:srgbClr val="5A6470"/>
                </a:solidFill>
                <a:latin typeface="Noto Sans CJK SC"/>
                <a:ea typeface="Noto Sans CJK SC"/>
              </a:rPr>
              <a:t>小而精的闭环作战单元：每个关键环节都有被验证过的人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201168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600" b="1" i="0">
                <a:solidFill>
                  <a:srgbClr val="C9A24B"/>
                </a:solidFill>
                <a:latin typeface="Noto Sans CJK SC"/>
                <a:ea typeface="Noto Sans CJK SC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50" b="0" i="0">
                <a:solidFill>
                  <a:srgbClr val="AAA496"/>
                </a:solidFill>
                <a:latin typeface="Noto Sans CJK SC"/>
                <a:ea typeface="Noto Sans CJK SC"/>
              </a:rPr>
              <a:t>克拉先生 Mr. Karat · 裂变项目竞选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737360"/>
            <a:ext cx="5349240" cy="1874519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800" y="1737360"/>
            <a:ext cx="82296" cy="1874519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01952"/>
            <a:ext cx="4754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 i="0">
                <a:solidFill>
                  <a:srgbClr val="112A46"/>
                </a:solidFill>
                <a:latin typeface="Noto Sans CJK SC"/>
                <a:ea typeface="Noto Sans CJK SC"/>
              </a:rPr>
              <a:t>总经理 / 流量操盘</a:t>
            </a:r>
            <a:r>
              <a:rPr sz="1350" b="1" i="0">
                <a:solidFill>
                  <a:srgbClr val="C9A24B"/>
                </a:solidFill>
                <a:latin typeface="Noto Sans CJK SC"/>
                <a:ea typeface="Noto Sans CJK SC"/>
              </a:rPr>
              <a:t>   ____（本人）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9152"/>
            <a:ext cx="47091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 i="0">
                <a:solidFill>
                  <a:srgbClr val="222A33"/>
                </a:solidFill>
                <a:latin typeface="Noto Sans CJK SC"/>
                <a:ea typeface="Noto Sans CJK SC"/>
              </a:rPr>
              <a:t>六年打满整个业务链：从客服到投手到项目负责人，累计操盘 1,000 万美金投放，破站点 GMV 纪录。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200400"/>
            <a:ext cx="4709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5A6470"/>
                </a:solidFill>
                <a:latin typeface="Noto Sans CJK SC"/>
                <a:ea typeface="Noto Sans CJK SC"/>
              </a:rPr>
              <a:t>战略与经营 · 投放体系 · 广告操盘 · ROI 负责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1737360"/>
            <a:ext cx="5349240" cy="1874519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09360" y="1737360"/>
            <a:ext cx="82296" cy="1874519"/>
          </a:xfrm>
          <a:prstGeom prst="rect">
            <a:avLst/>
          </a:prstGeom>
          <a:solidFill>
            <a:srgbClr val="112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29400" y="1901952"/>
            <a:ext cx="4754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 i="0">
                <a:solidFill>
                  <a:srgbClr val="112A46"/>
                </a:solidFill>
                <a:latin typeface="Noto Sans CJK SC"/>
                <a:ea typeface="Noto Sans CJK SC"/>
              </a:rPr>
              <a:t>素材创作负责人</a:t>
            </a:r>
            <a:r>
              <a:rPr sz="1350" b="1" i="0">
                <a:solidFill>
                  <a:srgbClr val="C9A24B"/>
                </a:solidFill>
                <a:latin typeface="Noto Sans CJK SC"/>
                <a:ea typeface="Noto Sans CJK SC"/>
              </a:rPr>
              <a:t>   ____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29400" y="2359152"/>
            <a:ext cx="47091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 i="0">
                <a:solidFill>
                  <a:srgbClr val="222A33"/>
                </a:solidFill>
                <a:latin typeface="Noto Sans CJK SC"/>
                <a:ea typeface="Noto Sans CJK SC"/>
              </a:rPr>
              <a:t>5 年跨境素材实战，从 0 搭建 2 个站点的拍摄剪辑团队，单条爆款素材带来超 50 万美金 GMV。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29400" y="3200400"/>
            <a:ext cx="4709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5A6470"/>
                </a:solidFill>
                <a:latin typeface="Noto Sans CJK SC"/>
                <a:ea typeface="Noto Sans CJK SC"/>
              </a:rPr>
              <a:t>拍摄与剪辑生态 · 素材测试迭代 · KOL 内容协同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3840480"/>
            <a:ext cx="5349240" cy="1874519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85800" y="3840480"/>
            <a:ext cx="82296" cy="1874519"/>
          </a:xfrm>
          <a:prstGeom prst="rect">
            <a:avLst/>
          </a:prstGeom>
          <a:solidFill>
            <a:srgbClr val="112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5840" y="4005072"/>
            <a:ext cx="4754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 i="0">
                <a:solidFill>
                  <a:srgbClr val="112A46"/>
                </a:solidFill>
                <a:latin typeface="Noto Sans CJK SC"/>
                <a:ea typeface="Noto Sans CJK SC"/>
              </a:rPr>
              <a:t>设计与供应链负责人</a:t>
            </a:r>
            <a:r>
              <a:rPr sz="1350" b="1" i="0">
                <a:solidFill>
                  <a:srgbClr val="C9A24B"/>
                </a:solidFill>
                <a:latin typeface="Noto Sans CJK SC"/>
                <a:ea typeface="Noto Sans CJK SC"/>
              </a:rPr>
              <a:t>   ____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" y="4462272"/>
            <a:ext cx="47091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 i="0">
                <a:solidFill>
                  <a:srgbClr val="222A33"/>
                </a:solidFill>
                <a:latin typeface="Noto Sans CJK SC"/>
                <a:ea typeface="Noto Sans CJK SC"/>
              </a:rPr>
              <a:t>深耕珠宝供应链 8 年，直连印度源头钻石商与同源体系金工工坊，管理过年出货 3 万件的珠宝产线。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5303520"/>
            <a:ext cx="4709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5A6470"/>
                </a:solidFill>
                <a:latin typeface="Noto Sans CJK SC"/>
                <a:ea typeface="Noto Sans CJK SC"/>
              </a:rPr>
              <a:t>AI 设计模型 · 印度源头选钻 · 金工排单与品控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09360" y="3840480"/>
            <a:ext cx="5349240" cy="1874519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309360" y="3840480"/>
            <a:ext cx="82296" cy="1874519"/>
          </a:xfrm>
          <a:prstGeom prst="rect">
            <a:avLst/>
          </a:prstGeom>
          <a:solidFill>
            <a:srgbClr val="112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29400" y="4005072"/>
            <a:ext cx="4754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 i="0">
                <a:solidFill>
                  <a:srgbClr val="112A46"/>
                </a:solidFill>
                <a:latin typeface="Noto Sans CJK SC"/>
                <a:ea typeface="Noto Sans CJK SC"/>
              </a:rPr>
              <a:t>销售顾问 / 客服负责人</a:t>
            </a:r>
            <a:r>
              <a:rPr sz="1350" b="1" i="0">
                <a:solidFill>
                  <a:srgbClr val="C9A24B"/>
                </a:solidFill>
                <a:latin typeface="Noto Sans CJK SC"/>
                <a:ea typeface="Noto Sans CJK SC"/>
              </a:rPr>
              <a:t>   ____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29400" y="4462272"/>
            <a:ext cx="47091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 i="0">
                <a:solidFill>
                  <a:srgbClr val="222A33"/>
                </a:solidFill>
                <a:latin typeface="Noto Sans CJK SC"/>
                <a:ea typeface="Noto Sans CJK SC"/>
              </a:rPr>
              <a:t>一线客服成长起来的转化专家，6 年高客单询单经验，历史询单转化率 30%、客诉率低于 1%。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29400" y="5303520"/>
            <a:ext cx="4709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5A6470"/>
                </a:solidFill>
                <a:latin typeface="Noto Sans CJK SC"/>
                <a:ea typeface="Noto Sans CJK SC"/>
              </a:rPr>
              <a:t>1v1 顾问服务 · 询单转化 · 售后与复购运营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589788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50" b="0" i="0">
                <a:solidFill>
                  <a:srgbClr val="5A6470"/>
                </a:solidFill>
                <a:latin typeface="Noto Sans CJK SC"/>
                <a:ea typeface="Noto Sans CJK SC"/>
              </a:rPr>
              <a:t>注：成员姓名与出资额度上台前补充；母公司 KOL 平台与中后台（财务/法务/IT）共享支持。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2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FFFFFF"/>
                </a:solidFill>
                <a:latin typeface="Noto Sans CJK SC"/>
                <a:ea typeface="Noto Sans CJK SC"/>
              </a:rPr>
              <a:t>06 · 必答题：为什么总经理是我？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207008"/>
            <a:ext cx="107899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50" b="1" i="0">
                <a:solidFill>
                  <a:srgbClr val="C9A24B"/>
                </a:solidFill>
                <a:latin typeface="Noto Sans CJK SC"/>
                <a:ea typeface="Noto Sans CJK SC"/>
              </a:rPr>
              <a:t>这个项目的胜负手是流媒体流量，而我，是公司里被结果验证过的流媒体操盘手。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143000" y="2624328"/>
            <a:ext cx="8366760" cy="2794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Diamond 6"/>
          <p:cNvSpPr/>
          <p:nvPr/>
        </p:nvSpPr>
        <p:spPr>
          <a:xfrm>
            <a:off x="1005840" y="2496312"/>
            <a:ext cx="274320" cy="274320"/>
          </a:xfrm>
          <a:prstGeom prst="diamond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-91440" y="2926080"/>
            <a:ext cx="2468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550" b="1" i="0">
                <a:solidFill>
                  <a:srgbClr val="FFFFFF"/>
                </a:solidFill>
                <a:latin typeface="Noto Sans CJK SC"/>
                <a:ea typeface="Noto Sans CJK SC"/>
              </a:rPr>
              <a:t>客服业务员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-91440" y="3383280"/>
            <a:ext cx="24688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200" b="0" i="0">
                <a:solidFill>
                  <a:srgbClr val="B9C5D4"/>
                </a:solidFill>
                <a:latin typeface="Noto Sans CJK SC"/>
                <a:ea typeface="Noto Sans CJK SC"/>
              </a:rPr>
              <a:t>月薪 3,500 起步</a:t>
            </a:r>
          </a:p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200" b="0" i="0">
                <a:solidFill>
                  <a:srgbClr val="B9C5D4"/>
                </a:solidFill>
                <a:latin typeface="Noto Sans CJK SC"/>
                <a:ea typeface="Noto Sans CJK SC"/>
              </a:rPr>
              <a:t>吃透用户与询单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-91440" y="2130552"/>
            <a:ext cx="2468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C9A24B"/>
                </a:solidFill>
                <a:latin typeface="Noto Sans CJK SC"/>
                <a:ea typeface="Noto Sans CJK SC"/>
              </a:rPr>
              <a:t>2020</a:t>
            </a:r>
          </a:p>
        </p:txBody>
      </p:sp>
      <p:sp>
        <p:nvSpPr>
          <p:cNvPr id="11" name="Diamond 10"/>
          <p:cNvSpPr/>
          <p:nvPr/>
        </p:nvSpPr>
        <p:spPr>
          <a:xfrm>
            <a:off x="3794760" y="2496312"/>
            <a:ext cx="274320" cy="274320"/>
          </a:xfrm>
          <a:prstGeom prst="diamond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697480" y="2926080"/>
            <a:ext cx="2468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550" b="1" i="0">
                <a:solidFill>
                  <a:srgbClr val="FFFFFF"/>
                </a:solidFill>
                <a:latin typeface="Noto Sans CJK SC"/>
                <a:ea typeface="Noto Sans CJK SC"/>
              </a:rPr>
              <a:t>营销部投手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97480" y="3383280"/>
            <a:ext cx="24688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200" b="0" i="0">
                <a:solidFill>
                  <a:srgbClr val="B9C5D4"/>
                </a:solidFill>
                <a:latin typeface="Noto Sans CJK SC"/>
                <a:ea typeface="Noto Sans CJK SC"/>
              </a:rPr>
              <a:t>转型广告投放</a:t>
            </a:r>
          </a:p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200" b="0" i="0">
                <a:solidFill>
                  <a:srgbClr val="B9C5D4"/>
                </a:solidFill>
                <a:latin typeface="Noto Sans CJK SC"/>
                <a:ea typeface="Noto Sans CJK SC"/>
              </a:rPr>
              <a:t>从 0 建立盘感</a:t>
            </a:r>
          </a:p>
        </p:txBody>
      </p:sp>
      <p:sp>
        <p:nvSpPr>
          <p:cNvPr id="14" name="Diamond 13"/>
          <p:cNvSpPr/>
          <p:nvPr/>
        </p:nvSpPr>
        <p:spPr>
          <a:xfrm>
            <a:off x="6583680" y="2496312"/>
            <a:ext cx="274320" cy="274320"/>
          </a:xfrm>
          <a:prstGeom prst="diamond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0" y="2926080"/>
            <a:ext cx="2468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550" b="1" i="0">
                <a:solidFill>
                  <a:srgbClr val="FFFFFF"/>
                </a:solidFill>
                <a:latin typeface="Noto Sans CJK SC"/>
                <a:ea typeface="Noto Sans CJK SC"/>
              </a:rPr>
              <a:t>站点营销负责人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0" y="3383280"/>
            <a:ext cx="24688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200" b="0" i="0">
                <a:solidFill>
                  <a:srgbClr val="B9C5D4"/>
                </a:solidFill>
                <a:latin typeface="Noto Sans CJK SC"/>
                <a:ea typeface="Noto Sans CJK SC"/>
              </a:rPr>
              <a:t>统筹素材+投放</a:t>
            </a:r>
          </a:p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200" b="0" i="0">
                <a:solidFill>
                  <a:srgbClr val="B9C5D4"/>
                </a:solidFill>
                <a:latin typeface="Noto Sans CJK SC"/>
                <a:ea typeface="Noto Sans CJK SC"/>
              </a:rPr>
              <a:t>搭建创作生态团队</a:t>
            </a:r>
          </a:p>
        </p:txBody>
      </p:sp>
      <p:sp>
        <p:nvSpPr>
          <p:cNvPr id="17" name="Diamond 16"/>
          <p:cNvSpPr/>
          <p:nvPr/>
        </p:nvSpPr>
        <p:spPr>
          <a:xfrm>
            <a:off x="9372600" y="2496312"/>
            <a:ext cx="274320" cy="274320"/>
          </a:xfrm>
          <a:prstGeom prst="diamond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75320" y="2926080"/>
            <a:ext cx="2468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550" b="1" i="0">
                <a:solidFill>
                  <a:srgbClr val="FFFFFF"/>
                </a:solidFill>
                <a:latin typeface="Noto Sans CJK SC"/>
                <a:ea typeface="Noto Sans CJK SC"/>
              </a:rPr>
              <a:t>项目负责人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75320" y="3383280"/>
            <a:ext cx="24688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200" b="0" i="0">
                <a:solidFill>
                  <a:srgbClr val="B9C5D4"/>
                </a:solidFill>
                <a:latin typeface="Noto Sans CJK SC"/>
                <a:ea typeface="Noto Sans CJK SC"/>
              </a:rPr>
              <a:t>打破站点</a:t>
            </a:r>
          </a:p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200" b="0" i="0">
                <a:solidFill>
                  <a:srgbClr val="B9C5D4"/>
                </a:solidFill>
                <a:latin typeface="Noto Sans CJK SC"/>
                <a:ea typeface="Noto Sans CJK SC"/>
              </a:rPr>
              <a:t>GMV 纪录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75320" y="2130552"/>
            <a:ext cx="2468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C9A24B"/>
                </a:solidFill>
                <a:latin typeface="Noto Sans CJK SC"/>
                <a:ea typeface="Noto Sans CJK SC"/>
              </a:rPr>
              <a:t>至今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68680" y="4434840"/>
            <a:ext cx="3291840" cy="1600200"/>
          </a:xfrm>
          <a:prstGeom prst="roundRect">
            <a:avLst>
              <a:gd name="adj" fmla="val 10000"/>
            </a:avLst>
          </a:prstGeom>
          <a:solidFill>
            <a:srgbClr val="1E3D5C"/>
          </a:solidFill>
          <a:ln w="127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51560" y="4636008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100" b="1" i="0">
                <a:solidFill>
                  <a:srgbClr val="C9A24B"/>
                </a:solidFill>
                <a:latin typeface="Noto Sans CJK SC"/>
                <a:ea typeface="Noto Sans CJK SC"/>
              </a:rPr>
              <a:t>$1,000 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" y="5239512"/>
            <a:ext cx="29260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250" b="0" i="0">
                <a:solidFill>
                  <a:srgbClr val="FFFFFF"/>
                </a:solidFill>
                <a:latin typeface="Noto Sans CJK SC"/>
                <a:ea typeface="Noto Sans CJK SC"/>
              </a:rPr>
              <a:t>累计广告投放花费</a:t>
            </a:r>
          </a:p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250" b="0" i="0">
                <a:solidFill>
                  <a:srgbClr val="FFFFFF"/>
                </a:solidFill>
                <a:latin typeface="Noto Sans CJK SC"/>
                <a:ea typeface="Noto Sans CJK SC"/>
              </a:rPr>
              <a:t>实战锤炼的投放体系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80560" y="4434840"/>
            <a:ext cx="3291840" cy="1600200"/>
          </a:xfrm>
          <a:prstGeom prst="roundRect">
            <a:avLst>
              <a:gd name="adj" fmla="val 10000"/>
            </a:avLst>
          </a:prstGeom>
          <a:solidFill>
            <a:srgbClr val="1E3D5C"/>
          </a:solidFill>
          <a:ln w="127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63440" y="4636008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100" b="1" i="0">
                <a:solidFill>
                  <a:srgbClr val="C9A24B"/>
                </a:solidFill>
                <a:latin typeface="Noto Sans CJK SC"/>
                <a:ea typeface="Noto Sans CJK SC"/>
              </a:rPr>
              <a:t>素材生态团队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63440" y="5239512"/>
            <a:ext cx="29260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250" b="0" i="0">
                <a:solidFill>
                  <a:srgbClr val="FFFFFF"/>
                </a:solidFill>
                <a:latin typeface="Noto Sans CJK SC"/>
                <a:ea typeface="Noto Sans CJK SC"/>
              </a:rPr>
              <a:t>拍摄 → 剪辑 → 投放</a:t>
            </a:r>
          </a:p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250" b="0" i="0">
                <a:solidFill>
                  <a:srgbClr val="FFFFFF"/>
                </a:solidFill>
                <a:latin typeface="Noto Sans CJK SC"/>
                <a:ea typeface="Noto Sans CJK SC"/>
              </a:rPr>
              <a:t>双通道自建打通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92440" y="4434840"/>
            <a:ext cx="3291840" cy="1600200"/>
          </a:xfrm>
          <a:prstGeom prst="roundRect">
            <a:avLst>
              <a:gd name="adj" fmla="val 10000"/>
            </a:avLst>
          </a:prstGeom>
          <a:solidFill>
            <a:srgbClr val="1E3D5C"/>
          </a:solidFill>
          <a:ln w="127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75320" y="4636008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100" b="1" i="0">
                <a:solidFill>
                  <a:srgbClr val="C9A24B"/>
                </a:solidFill>
                <a:latin typeface="Noto Sans CJK SC"/>
                <a:ea typeface="Noto Sans CJK SC"/>
              </a:rPr>
              <a:t>破站点 GMV 纪录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75320" y="5239512"/>
            <a:ext cx="29260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250" b="0" i="0">
                <a:solidFill>
                  <a:srgbClr val="FFFFFF"/>
                </a:solidFill>
                <a:latin typeface="Noto Sans CJK SC"/>
                <a:ea typeface="Noto Sans CJK SC"/>
              </a:rPr>
              <a:t>操盘项目创下</a:t>
            </a:r>
          </a:p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250" b="0" i="0">
                <a:solidFill>
                  <a:srgbClr val="FFFFFF"/>
                </a:solidFill>
                <a:latin typeface="Noto Sans CJK SC"/>
                <a:ea typeface="Noto Sans CJK SC"/>
              </a:rPr>
              <a:t>站点历史最高纪录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80" y="6263640"/>
            <a:ext cx="10515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450" b="1" i="0">
                <a:solidFill>
                  <a:srgbClr val="E8D5A3"/>
                </a:solidFill>
                <a:latin typeface="Noto Sans CJK SC"/>
                <a:ea typeface="Noto Sans CJK SC"/>
              </a:rPr>
              <a:t>＋ 母公司 KOL 平台完善支持，为新品牌冷启动持续赋能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9264"/>
          </a:xfrm>
          <a:prstGeom prst="rect">
            <a:avLst/>
          </a:prstGeom>
          <a:solidFill>
            <a:srgbClr val="112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9264"/>
            <a:ext cx="12191695" cy="381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01168"/>
            <a:ext cx="96012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700" b="1" i="0">
                <a:solidFill>
                  <a:srgbClr val="FFFFFF"/>
                </a:solidFill>
                <a:latin typeface="Noto Sans CJK SC"/>
                <a:ea typeface="Noto Sans CJK SC"/>
              </a:rPr>
              <a:t>总结：确定性的模型，配上被验证过的人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201168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600" b="1" i="0">
                <a:solidFill>
                  <a:srgbClr val="C9A24B"/>
                </a:solidFill>
                <a:latin typeface="Noto Sans CJK SC"/>
                <a:ea typeface="Noto Sans CJK SC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50" b="0" i="0">
                <a:solidFill>
                  <a:srgbClr val="AAA496"/>
                </a:solidFill>
                <a:latin typeface="Noto Sans CJK SC"/>
                <a:ea typeface="Noto Sans CJK SC"/>
              </a:rPr>
              <a:t>克拉先生 Mr. Karat · 裂变项目竞选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600200"/>
            <a:ext cx="5349240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5800" y="1600200"/>
            <a:ext cx="5349240" cy="128016"/>
          </a:xfrm>
          <a:prstGeom prst="rect">
            <a:avLst/>
          </a:prstGeom>
          <a:solidFill>
            <a:srgbClr val="2E7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1874519"/>
            <a:ext cx="4800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12A46"/>
                </a:solidFill>
                <a:latin typeface="Noto Sans CJK SC"/>
                <a:ea typeface="Noto Sans CJK SC"/>
              </a:rPr>
              <a:t>低风险产品结构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468880"/>
            <a:ext cx="48006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1400" b="0" i="0">
                <a:solidFill>
                  <a:srgbClr val="5A6470"/>
                </a:solidFill>
                <a:latin typeface="Noto Sans CJK SC"/>
                <a:ea typeface="Noto Sans CJK SC"/>
              </a:rPr>
              <a:t>· 一件一做，零库存资金占用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1400" b="0" i="0">
                <a:solidFill>
                  <a:srgbClr val="5A6470"/>
                </a:solidFill>
                <a:latin typeface="Noto Sans CJK SC"/>
                <a:ea typeface="Noto Sans CJK SC"/>
              </a:rPr>
              <a:t>· 160 万投入覆盖 3 年独立核算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1400" b="0" i="0">
                <a:solidFill>
                  <a:srgbClr val="5A6470"/>
                </a:solidFill>
                <a:latin typeface="Noto Sans CJK SC"/>
                <a:ea typeface="Noto Sans CJK SC"/>
              </a:rPr>
              <a:t>· 源头供应链 + 大师工艺锁定成本与品质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1400" b="0" i="0">
                <a:solidFill>
                  <a:srgbClr val="5A6470"/>
                </a:solidFill>
                <a:latin typeface="Noto Sans CJK SC"/>
                <a:ea typeface="Noto Sans CJK SC"/>
              </a:rPr>
              <a:t>· 利润锚定品牌与设计溢价，15%~20%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600200"/>
            <a:ext cx="5349240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63640" y="1600200"/>
            <a:ext cx="5349240" cy="128016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874519"/>
            <a:ext cx="4800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12A46"/>
                </a:solidFill>
                <a:latin typeface="Noto Sans CJK SC"/>
                <a:ea typeface="Noto Sans CJK SC"/>
              </a:rPr>
              <a:t>专业流量投放体系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37960" y="2468880"/>
            <a:ext cx="48006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1400" b="0" i="0">
                <a:solidFill>
                  <a:srgbClr val="5A6470"/>
                </a:solidFill>
                <a:latin typeface="Noto Sans CJK SC"/>
                <a:ea typeface="Noto Sans CJK SC"/>
              </a:rPr>
              <a:t>· 竞品社媒信息流空窗，先发卡位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1400" b="0" i="0">
                <a:solidFill>
                  <a:srgbClr val="5A6470"/>
                </a:solidFill>
                <a:latin typeface="Noto Sans CJK SC"/>
                <a:ea typeface="Noto Sans CJK SC"/>
              </a:rPr>
              <a:t>· $1,000 万投放经验 + 素材生态团队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1400" b="0" i="0">
                <a:solidFill>
                  <a:srgbClr val="5A6470"/>
                </a:solidFill>
                <a:latin typeface="Noto Sans CJK SC"/>
                <a:ea typeface="Noto Sans CJK SC"/>
              </a:rPr>
              <a:t>· 母公司 KOL 平台冷启动赋能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1400" b="0" i="0">
                <a:solidFill>
                  <a:srgbClr val="5A6470"/>
                </a:solidFill>
                <a:latin typeface="Noto Sans CJK SC"/>
                <a:ea typeface="Noto Sans CJK SC"/>
              </a:rPr>
              <a:t>· 破站点 GMV 纪录的操盘方法论复用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4983480"/>
            <a:ext cx="10927080" cy="1143000"/>
          </a:xfrm>
          <a:prstGeom prst="roundRect">
            <a:avLst>
              <a:gd name="adj" fmla="val 12000"/>
            </a:avLst>
          </a:prstGeom>
          <a:solidFill>
            <a:srgbClr val="112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4983480"/>
            <a:ext cx="10332720" cy="114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800" b="1" i="0">
                <a:solidFill>
                  <a:srgbClr val="C9A24B"/>
                </a:solidFill>
                <a:latin typeface="Noto Sans CJK SC"/>
                <a:ea typeface="Noto Sans CJK SC"/>
              </a:rPr>
              <a:t>目标：</a:t>
            </a:r>
            <a:r>
              <a:rPr sz="1600" b="1" i="0">
                <a:solidFill>
                  <a:srgbClr val="FFFFFF"/>
                </a:solidFill>
                <a:latin typeface="Noto Sans CJK SC"/>
                <a:ea typeface="Noto Sans CJK SC"/>
              </a:rPr>
              <a:t>第 1~3 年跑通单站模型，第 4~5 年复制多站点、多市场，冲击年收益 5,000 万美金量级。下有零库存保底，上有流量红利想象力。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2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iamond 3"/>
          <p:cNvSpPr/>
          <p:nvPr/>
        </p:nvSpPr>
        <p:spPr>
          <a:xfrm>
            <a:off x="5912967" y="1965960"/>
            <a:ext cx="365760" cy="365760"/>
          </a:xfrm>
          <a:prstGeom prst="diamond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2606040"/>
            <a:ext cx="944575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Noto Sans CJK SC"/>
                <a:ea typeface="Noto Sans CJK SC"/>
              </a:rPr>
              <a:t>感谢聆听 · 请投出您的一票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3703320"/>
            <a:ext cx="944575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800" b="0" i="0">
                <a:solidFill>
                  <a:srgbClr val="E8D5A3"/>
                </a:solidFill>
                <a:latin typeface="Noto Sans CJK SC"/>
                <a:ea typeface="Noto Sans CJK SC"/>
              </a:rPr>
              <a:t>克拉先生 Mr. Karat —— 让每一枚婚戒，都值得被认真定制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4663440"/>
            <a:ext cx="944575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000" b="1" i="0">
                <a:solidFill>
                  <a:srgbClr val="FFFFFF"/>
                </a:solidFill>
                <a:latin typeface="Noto Sans CJK SC"/>
                <a:ea typeface="Noto Sans CJK SC"/>
              </a:rPr>
              <a:t>Q &amp; 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