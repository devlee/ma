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ectangle 5"/>
          <p:cNvSpPr/>
          <p:nvPr/>
        </p:nvSpPr>
        <p:spPr>
          <a:xfrm>
            <a:off x="830580" y="1653540"/>
            <a:ext cx="3733800" cy="3733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ing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365760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37160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8D5A3"/>
                </a:solidFill>
                <a:latin typeface="Noto Sans CJK SC"/>
                <a:ea typeface="Noto Sans CJK SC"/>
              </a:rPr>
              <a:t>其中一颗是培育钻 —— 您能分辨吗？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91640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169164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29514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898648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89864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3208" y="289864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98648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0215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105656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410565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3208" y="410565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05656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70916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5321808"/>
            <a:ext cx="6583680" cy="475488"/>
          </a:xfrm>
          <a:prstGeom prst="roundRect">
            <a:avLst>
              <a:gd name="adj" fmla="val 25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5321808"/>
            <a:ext cx="6126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A24B"/>
                </a:solidFill>
                <a:latin typeface="Noto Sans CJK SC"/>
                <a:ea typeface="Noto Sans CJK SC"/>
              </a:rPr>
              <a:t>美国市场信号：</a:t>
            </a: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培育钻在订婚戒中的渗透率逐年快速提升——年轻一代已用钱包投票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 + 定制服务切一块确定性增长的蛋糕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高客单高毛利：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婚戒是强情感、强定制品类，服务与设计溢价空间大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 / 订婚戒（IGI·GIA 证书裸钻 + 18K 金/铂金戒托）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定制顾问全程陪跑：选钻 → AI 出图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交付模式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一件一做、按单生产，支持刻字、改圈、终身保养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定制服务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Karat：一件一做的美国培育钻婚戒定制品牌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定制服务承接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顾问承接高客单决策，转化与复购的信任基石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定制顾问：选钻教学 → 3D 效果图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净利率 15%~20% · 客单价按 $2,000（约 1.4 万元）测算，示例口径可复核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01752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57276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572768"/>
            <a:ext cx="2724912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57276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084832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08483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084832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08483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596896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596896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订单量（月均）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360 单（月均 30）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1,070 单（月均 90）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596896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596896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2,570 单（月均 215）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108960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108960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广告及营销投放（40%）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108960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108960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1,440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621024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621024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货品及履约成本（30%）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621024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621024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1,080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133088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13308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团队及运营费用（8%）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133088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13308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645152"/>
            <a:ext cx="301752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464515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经营利润（约 22%）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444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110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3620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330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87968" y="4645152"/>
            <a:ext cx="2724912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5128" y="464515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792</a:t>
            </a:r>
          </a:p>
        </p:txBody>
      </p:sp>
      <p:sp>
        <p:nvSpPr>
          <p:cNvPr id="65" name="Diamond 64"/>
          <p:cNvSpPr/>
          <p:nvPr/>
        </p:nvSpPr>
        <p:spPr>
          <a:xfrm>
            <a:off x="685800" y="534009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526694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单量口径：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第一年月均约 30 单即达标——对专业投放团队，这是保守的起步目标，可拆到每条广告线复核</a:t>
            </a:r>
          </a:p>
        </p:txBody>
      </p:sp>
      <p:sp>
        <p:nvSpPr>
          <p:cNvPr id="67" name="Diamond 66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0120" y="56327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成本结构：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广告 40% + 货品 30% + 团队运营 8%，经营利润率约 22%；扣除支付手续费、物流保险等杂费后净利率 15%~20%</a:t>
            </a:r>
          </a:p>
        </p:txBody>
      </p:sp>
      <p:sp>
        <p:nvSpPr>
          <p:cNvPr id="69" name="Diamond 68"/>
          <p:cNvSpPr/>
          <p:nvPr/>
        </p:nvSpPr>
        <p:spPr>
          <a:xfrm>
            <a:off x="685800" y="607161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0120" y="599846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投放体系搭建 · 广告账户操盘 · ROI 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金工大师排单与品控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定制顾问 / 客服负责人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定制服务 · 询单转化 · 售后与复购运营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利润锚定设计与服务溢价，15%~20%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600" b="1" i="0">
                <a:solidFill>
                  <a:srgbClr val="FFFFFF"/>
                </a:solidFill>
                <a:latin typeface="Noto Sans CJK SC"/>
                <a:ea typeface="Noto Sans CJK SC"/>
              </a:rPr>
              <a:t>第 1~3 年跑通单站模型，第 4~5 年复制多站点、多市场，冲击年收益 5,000 万美金量级。下有零库存保底，上有流量红利想象力。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